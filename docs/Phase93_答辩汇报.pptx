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f519a8a81e4496" /><Relationship Type="http://schemas.openxmlformats.org/officeDocument/2006/relationships/extended-properties" Target="/docProps/app.xml" Id="R92c25585d03940d2" /><Relationship Type="http://schemas.openxmlformats.org/officeDocument/2006/relationships/officeDocument" Target="/ppt/presentation.xml" Id="Rb7f0173e9fb644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5444b2c6434335"/>
  </p:sldMasterIdLst>
  <p:notesMasterIdLst>
    <p:notesMasterId xmlns:r="http://schemas.openxmlformats.org/officeDocument/2006/relationships" r:id="R5cfc03134ae34648"/>
  </p:notesMasterIdLst>
  <p:sldIdLst>
    <p:sldId xmlns:r="http://schemas.openxmlformats.org/officeDocument/2006/relationships" id="256" r:id="R2e516ff4e8c1483e"/>
    <p:sldId xmlns:r="http://schemas.openxmlformats.org/officeDocument/2006/relationships" id="257" r:id="R0118669b98ea4ce2"/>
    <p:sldId xmlns:r="http://schemas.openxmlformats.org/officeDocument/2006/relationships" id="258" r:id="R707a0202497549b4"/>
    <p:sldId xmlns:r="http://schemas.openxmlformats.org/officeDocument/2006/relationships" id="259" r:id="R61d6d4acaed74732"/>
    <p:sldId xmlns:r="http://schemas.openxmlformats.org/officeDocument/2006/relationships" id="260" r:id="Rc9a3c30e731940c9"/>
    <p:sldId xmlns:r="http://schemas.openxmlformats.org/officeDocument/2006/relationships" id="261" r:id="Rc85dc65608b24dc2"/>
    <p:sldId xmlns:r="http://schemas.openxmlformats.org/officeDocument/2006/relationships" id="262" r:id="Ra3f475f4264e462c"/>
    <p:sldId xmlns:r="http://schemas.openxmlformats.org/officeDocument/2006/relationships" id="263" r:id="R913ac5aefb6348e9"/>
    <p:sldId xmlns:r="http://schemas.openxmlformats.org/officeDocument/2006/relationships" id="264" r:id="Rb22e0719b57c4be0"/>
    <p:sldId xmlns:r="http://schemas.openxmlformats.org/officeDocument/2006/relationships" id="265" r:id="Ra8a27695a45341fe"/>
    <p:sldId xmlns:r="http://schemas.openxmlformats.org/officeDocument/2006/relationships" id="266" r:id="Rfb5a3f8f00384e68"/>
    <p:sldId xmlns:r="http://schemas.openxmlformats.org/officeDocument/2006/relationships" id="267" r:id="Rf8ab96815f094d85"/>
    <p:sldId xmlns:r="http://schemas.openxmlformats.org/officeDocument/2006/relationships" id="268" r:id="Rc58fa2b95b9045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323a1ebd634659" /><Relationship Type="http://schemas.openxmlformats.org/officeDocument/2006/relationships/slideMaster" Target="/ppt/slideMasters/slideMaster1.xml" Id="Rc35444b2c6434335" /><Relationship Type="http://schemas.openxmlformats.org/officeDocument/2006/relationships/notesMaster" Target="/ppt/notesMasters/notesMaster1.xml" Id="R5cfc03134ae34648" /><Relationship Type="http://schemas.openxmlformats.org/officeDocument/2006/relationships/presProps" Target="/ppt/presProps.xml" Id="Ra8773fe239124707" /><Relationship Type="http://schemas.openxmlformats.org/officeDocument/2006/relationships/tableStyles" Target="/ppt/tableStyles.xml" Id="R05117cfe5aeb4163" /><Relationship Type="http://schemas.openxmlformats.org/officeDocument/2006/relationships/slide" Target="/ppt/slides/slide1.xml" Id="R2e516ff4e8c1483e" /><Relationship Type="http://schemas.openxmlformats.org/officeDocument/2006/relationships/slide" Target="/ppt/slides/slide2.xml" Id="R0118669b98ea4ce2" /><Relationship Type="http://schemas.openxmlformats.org/officeDocument/2006/relationships/slide" Target="/ppt/slides/slide3.xml" Id="R707a0202497549b4" /><Relationship Type="http://schemas.openxmlformats.org/officeDocument/2006/relationships/slide" Target="/ppt/slides/slide4.xml" Id="R61d6d4acaed74732" /><Relationship Type="http://schemas.openxmlformats.org/officeDocument/2006/relationships/slide" Target="/ppt/slides/slide5.xml" Id="Rc9a3c30e731940c9" /><Relationship Type="http://schemas.openxmlformats.org/officeDocument/2006/relationships/slide" Target="/ppt/slides/slide6.xml" Id="Rc85dc65608b24dc2" /><Relationship Type="http://schemas.openxmlformats.org/officeDocument/2006/relationships/slide" Target="/ppt/slides/slide7.xml" Id="Ra3f475f4264e462c" /><Relationship Type="http://schemas.openxmlformats.org/officeDocument/2006/relationships/slide" Target="/ppt/slides/slide8.xml" Id="R913ac5aefb6348e9" /><Relationship Type="http://schemas.openxmlformats.org/officeDocument/2006/relationships/slide" Target="/ppt/slides/slide9.xml" Id="Rb22e0719b57c4be0" /><Relationship Type="http://schemas.openxmlformats.org/officeDocument/2006/relationships/slide" Target="/ppt/slides/slide10.xml" Id="Ra8a27695a45341fe" /><Relationship Type="http://schemas.openxmlformats.org/officeDocument/2006/relationships/slide" Target="/ppt/slides/slide11.xml" Id="Rfb5a3f8f00384e68" /><Relationship Type="http://schemas.openxmlformats.org/officeDocument/2006/relationships/slide" Target="/ppt/slides/slide12.xml" Id="Rf8ab96815f094d85" /><Relationship Type="http://schemas.openxmlformats.org/officeDocument/2006/relationships/slide" Target="/ppt/slides/slide13.xml" Id="Rc58fa2b95b9045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9503b3fabe49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4a72c46956459a" /><Relationship Type="http://schemas.openxmlformats.org/officeDocument/2006/relationships/notesMaster" Target="/ppt/notesMasters/notesMaster1.xml" Id="R9ac5bea1b6a84a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38050fb7b74a52" /><Relationship Type="http://schemas.openxmlformats.org/officeDocument/2006/relationships/notesMaster" Target="/ppt/notesMasters/notesMaster1.xml" Id="R5fd3bdfae3f644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d865142a06425e" /><Relationship Type="http://schemas.openxmlformats.org/officeDocument/2006/relationships/notesMaster" Target="/ppt/notesMasters/notesMaster1.xml" Id="Re3074a8e33444e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8d83721d264d47" /><Relationship Type="http://schemas.openxmlformats.org/officeDocument/2006/relationships/notesMaster" Target="/ppt/notesMasters/notesMaster1.xml" Id="Rf567cda07a5543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3b27f843894c29" /><Relationship Type="http://schemas.openxmlformats.org/officeDocument/2006/relationships/notesMaster" Target="/ppt/notesMasters/notesMaster1.xml" Id="R812b055d57ad49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63cf32ccb14f48" /><Relationship Type="http://schemas.openxmlformats.org/officeDocument/2006/relationships/notesMaster" Target="/ppt/notesMasters/notesMaster1.xml" Id="R2a5e0a1dd96e4d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77948efdbc4e08" /><Relationship Type="http://schemas.openxmlformats.org/officeDocument/2006/relationships/notesMaster" Target="/ppt/notesMasters/notesMaster1.xml" Id="Rf0531c2ae7004e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e848f44eb34cc1" /><Relationship Type="http://schemas.openxmlformats.org/officeDocument/2006/relationships/notesMaster" Target="/ppt/notesMasters/notesMaster1.xml" Id="R5eb351ad346647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05519824414998" /><Relationship Type="http://schemas.openxmlformats.org/officeDocument/2006/relationships/notesMaster" Target="/ppt/notesMasters/notesMaster1.xml" Id="Rf65937a154274c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c403fd0f2c4aa9" /><Relationship Type="http://schemas.openxmlformats.org/officeDocument/2006/relationships/notesMaster" Target="/ppt/notesMasters/notesMaster1.xml" Id="R18bbc2a7e22242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73fc2657a14b1a" /><Relationship Type="http://schemas.openxmlformats.org/officeDocument/2006/relationships/notesMaster" Target="/ppt/notesMasters/notesMaster1.xml" Id="R9897980a7e834b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77ed9c69314ed5" /><Relationship Type="http://schemas.openxmlformats.org/officeDocument/2006/relationships/notesMaster" Target="/ppt/notesMasters/notesMaster1.xml" Id="R208a0f87dbca44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9c0b1230dc485d" /><Relationship Type="http://schemas.openxmlformats.org/officeDocument/2006/relationships/notesMaster" Target="/ppt/notesMasters/notesMaster1.xml" Id="Reee23e3a1c9f49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R2-93 repository: build_phase93_end_to_end.py</a:t>
            </a:r>
          </a:p>
          <a:p xmlns:a="http://schemas.openxmlformats.org/drawingml/2006/main">
            <a:r>
              <a:t>- User-provided visual style references (2026-08)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R2-93 repository: README.md</a:t>
            </a:r>
          </a:p>
          <a:p xmlns:a="http://schemas.openxmlformats.org/drawingml/2006/main">
            <a:r>
              <a:t>- R2-93 repository: build_phase93_from_raw.py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R2-93 repository: build_phase93_from_raw.py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R2-93 repository: make_propagation_matched_splits.py</a:t>
            </a:r>
          </a:p>
          <a:p xmlns:a="http://schemas.openxmlformats.org/drawingml/2006/main">
            <a:r>
              <a:t>- R2-93 repository: r2_pipeline.py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R2-93 repository: r2_pipeline.py</a:t>
            </a:r>
          </a:p>
          <a:p xmlns:a="http://schemas.openxmlformats.org/drawingml/2006/main">
            <a:r>
              <a:t>- Competition reference metric formula supplied by user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R2-93 repository: build_channel_descriptors.py</a:t>
            </a:r>
          </a:p>
          <a:p xmlns:a="http://schemas.openxmlformats.org/drawingml/2006/main">
            <a:r>
              <a:t>- R2-93 repository: matched_phase5_tree_band_descriptor.py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R2-93 repository: r2_pipeline.py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R2-93 repository: matched_phase6_pas_fitted_canonical.py</a:t>
            </a:r>
          </a:p>
          <a:p xmlns:a="http://schemas.openxmlformats.org/drawingml/2006/main">
            <a:r>
              <a:t>- R2-93 repository: matched_phase6_pas_fitted_vertical.py</a:t>
            </a:r>
          </a:p>
          <a:p xmlns:a="http://schemas.openxmlformats.org/drawingml/2006/main">
            <a:r>
              <a:t>- R2-93 repository: build_phase6_submission.py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R2-93 repository: build_phase9_submission.py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R2-93 repository: phase10_pas_complement_anchor_confirmation.py</a:t>
            </a:r>
          </a:p>
          <a:p xmlns:a="http://schemas.openxmlformats.org/drawingml/2006/main">
            <a:r>
              <a:t>- R2-93 repository: build_phase40_p9_actual_antip10_pas050_submission.py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R2-93 repository: build_phase93_g56_antip10_plus_symmetric_clamp_submission.py</a:t>
            </a:r>
          </a:p>
          <a:p xmlns:a="http://schemas.openxmlformats.org/drawingml/2006/main">
            <a:r>
              <a:t>- R2-93 repository: phase90_symmetric_clampfloor_perue.py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R2-93 repository: build_phase93_end_to_end.py</a:t>
            </a:r>
          </a:p>
          <a:p xmlns:a="http://schemas.openxmlformats.org/drawingml/2006/main">
            <a:r>
              <a:t>- R2-93 repository: build_phase93_from_raw.py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R2-93 repository: Phase93 raw-to-final source tree</a:t>
            </a:r>
          </a:p>
          <a:p xmlns:a="http://schemas.openxmlformats.org/drawingml/2006/main">
            <a:r>
              <a:t>- R2-93 repository: phase93_g56_antip10_plus_symmetric_clamp_submission_manifest.json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c47eb07e848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78a61d22cf42f5" /><Relationship Type="http://schemas.openxmlformats.org/officeDocument/2006/relationships/slideLayout" Target="/ppt/slideLayouts/slideLayout1.xml" Id="R67dc8f6cc94443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dc8f6cc94443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4cd2d39ae41e8" /><Relationship Type="http://schemas.openxmlformats.org/officeDocument/2006/relationships/notesSlide" Target="/ppt/notesSlides/notesSlide1.xml" Id="R83ebc329c1f945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251d4929540c9" /><Relationship Type="http://schemas.openxmlformats.org/officeDocument/2006/relationships/notesSlide" Target="/ppt/notesSlides/notesSlide2.xml" Id="R2fbbedcb889b47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293a5b8614d01" /><Relationship Type="http://schemas.openxmlformats.org/officeDocument/2006/relationships/notesSlide" Target="/ppt/notesSlides/notesSlide3.xml" Id="Rb1399afe9b3947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95eb65cb6468d" /><Relationship Type="http://schemas.openxmlformats.org/officeDocument/2006/relationships/notesSlide" Target="/ppt/notesSlides/notesSlide4.xml" Id="R61a8ace98ac94e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eec8eabe84652" /><Relationship Type="http://schemas.openxmlformats.org/officeDocument/2006/relationships/notesSlide" Target="/ppt/notesSlides/notesSlide5.xml" Id="R908d651a573d4c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66fa8ba834b46" /><Relationship Type="http://schemas.openxmlformats.org/officeDocument/2006/relationships/notesSlide" Target="/ppt/notesSlides/notesSlide6.xml" Id="R4e8e145996a544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7420ccaed4433" /><Relationship Type="http://schemas.openxmlformats.org/officeDocument/2006/relationships/notesSlide" Target="/ppt/notesSlides/notesSlide7.xml" Id="R7d30d7571f094b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29c710dd04454" /><Relationship Type="http://schemas.openxmlformats.org/officeDocument/2006/relationships/notesSlide" Target="/ppt/notesSlides/notesSlide8.xml" Id="R641aeda2028f4f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f1228f12f487c" /><Relationship Type="http://schemas.openxmlformats.org/officeDocument/2006/relationships/notesSlide" Target="/ppt/notesSlides/notesSlide9.xml" Id="R29f3fa25f0b84e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89b8eb36649bf" /><Relationship Type="http://schemas.openxmlformats.org/officeDocument/2006/relationships/notesSlide" Target="/ppt/notesSlides/notesSlide10.xml" Id="R26125600cc714f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e67a3a9d948f3" /><Relationship Type="http://schemas.openxmlformats.org/officeDocument/2006/relationships/notesSlide" Target="/ppt/notesSlides/notesSlide11.xml" Id="R39e21e0d1e7544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aedfdb9db413c" /><Relationship Type="http://schemas.openxmlformats.org/officeDocument/2006/relationships/notesSlide" Target="/ppt/notesSlides/notesSlide12.xml" Id="R75992d17e31e4c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60d1b064a4ae7" /><Relationship Type="http://schemas.openxmlformats.org/officeDocument/2006/relationships/notesSlide" Target="/ppt/notesSlides/notesSlide13.xml" Id="R5569ef392de64a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5D52B3-A659-4B5F-B71E-9FB5A884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6D2"/>
                </a:solidFill>
              </a:defRPr>
            </a:pPr>
            <a:r>
              <a:rPr sz="1125" b="1">
                <a:solidFill>
                  <a:srgbClr val="1676D2"/>
                </a:solidFill>
              </a:rPr>
              <a:t>ROUND2 · WIRELESS CHANNEL RECONSTRUCTION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1ED6B-BEFF-4F6B-9316-35C3F679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04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A4C"/>
                </a:solidFill>
              </a:defRPr>
            </a:pPr>
            <a:r>
              <a:rPr sz="4650" b="1">
                <a:solidFill>
                  <a:srgbClr val="102A4C"/>
                </a:solidFill>
              </a:rPr>
              <a:t>Phase93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C96D7-E2CB-4808-9554-CF3AB817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F"/>
                </a:solidFill>
              </a:defRPr>
            </a:pPr>
            <a:r>
              <a:rPr sz="2550" b="1">
                <a:solidFill>
                  <a:srgbClr val="17212F"/>
                </a:solidFill>
              </a:rPr>
              <a:t>端到端复信道重建模型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870E6-E197-40CF-B7C9-6F854025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876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878"/>
                </a:solidFill>
              </a:defRPr>
            </a:pPr>
            <a:r>
              <a:rPr sz="1500" b="0">
                <a:solidFill>
                  <a:srgbClr val="5C6878"/>
                </a:solidFill>
              </a:rPr>
              <a:t>从四个赛事原始文件，现场生成 500×256×4×192 complex64 输出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F93DD-7BD1-4907-8E39-275F0F14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D59AB-8E17-4556-A651-00A014F5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876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CBF44-FBB1-41B9-8947-4B1394C5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24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8234C-0BEA-403F-8579-E254A9F2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9100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FD91F-E9F7-4042-9265-D9222425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F"/>
                </a:solidFill>
              </a:defRPr>
            </a:pPr>
            <a:r>
              <a:rPr sz="1350" b="1">
                <a:solidFill>
                  <a:srgbClr val="17212F"/>
                </a:solidFill>
              </a:rPr>
              <a:t>原始数据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90605-74C7-4E35-9D30-5FFF205B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124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8FB6E-9C89-4090-B52E-99C8BE4A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19100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CDCCC-EBB4-407B-A5C3-D1427292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291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F"/>
                </a:solidFill>
              </a:defRPr>
            </a:pPr>
            <a:r>
              <a:rPr sz="1350" b="1">
                <a:solidFill>
                  <a:srgbClr val="17212F"/>
                </a:solidFill>
              </a:rPr>
              <a:t>矩形验证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7A1ED-C819-4331-8786-1E9A6F8B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124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9ABA9-6C54-4B6F-912C-FFF9E858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19100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814CD-03BA-4CA3-AA47-E521109E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291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F"/>
                </a:solidFill>
              </a:defRPr>
            </a:pPr>
            <a:r>
              <a:rPr sz="1350" b="1">
                <a:solidFill>
                  <a:srgbClr val="17212F"/>
                </a:solidFill>
              </a:rPr>
              <a:t>空间预测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299FE-7B7B-4603-9306-66F88474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24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BB5F3-E1A3-4A96-8AE7-E7FE51C4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9100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28A1F-C8FB-4643-A497-5EB9CD10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291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F"/>
                </a:solidFill>
              </a:defRPr>
            </a:pPr>
            <a:r>
              <a:rPr sz="1350" b="1">
                <a:solidFill>
                  <a:srgbClr val="17212F"/>
                </a:solidFill>
              </a:rPr>
              <a:t>PAS / PDP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4BE12-5730-49DE-AE45-C597D11F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24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6792C-FD30-4195-9D24-3FD8955B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9100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3DCA5-66DD-473A-BCA1-EFFF45E6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291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F"/>
                </a:solidFill>
              </a:defRPr>
            </a:pPr>
            <a:r>
              <a:rPr sz="1350" b="1">
                <a:solidFill>
                  <a:srgbClr val="17212F"/>
                </a:solidFill>
              </a:rPr>
              <a:t>频谱投影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DB6C8-221A-4B80-9459-38CD0AFE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124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FA4A1-CED9-4693-84C5-8A09F470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19100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A2CCE-80AB-478D-A541-06EE93CC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291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F"/>
                </a:solidFill>
              </a:defRPr>
            </a:pPr>
            <a:r>
              <a:rPr sz="1350" b="1">
                <a:solidFill>
                  <a:srgbClr val="17212F"/>
                </a:solidFill>
              </a:rPr>
              <a:t>Phase93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5C179-185F-4208-8DE4-9C816ED1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48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6B38"/>
                </a:solidFill>
              </a:defRPr>
            </a:pPr>
            <a:r>
              <a:rPr sz="1575" b="1">
                <a:solidFill>
                  <a:srgbClr val="F26B38"/>
                </a:solidFill>
              </a:rPr>
              <a:t>核心观点：空间模型预测“功率结构”，物理投影负责恢复“可行复信道”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F8137-2AF9-4B3A-96E1-DE05F968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878"/>
                </a:solidFill>
              </a:defRPr>
            </a:pPr>
            <a:r>
              <a:rPr sz="750" b="0">
                <a:solidFill>
                  <a:srgbClr val="5C6878"/>
                </a:solidFill>
              </a:rPr>
              <a:t>[源码] build_phase93_end_to_end.py / r2_pipeline.py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3556EE-99E2-487A-96A4-CE756001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676D2"/>
                </a:solidFill>
              </a:defRPr>
            </a:pPr>
            <a:r>
              <a:rPr sz="750" b="1">
                <a:solidFill>
                  <a:srgbClr val="1676D2"/>
                </a:solidFill>
              </a:rPr>
              <a:t>ROUND2 / PHASE93   01</a:t>
            </a:r>
          </a:p>
        </p:txBody>
      </p:sp>
    </p:spTree>
    <p:extLst>
      <p:ext uri="{BB962C8B-B14F-4D97-AF65-F5344CB8AC3E}">
        <p14:creationId xmlns:p14="http://schemas.microsoft.com/office/powerpoint/2010/main" val="250401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9F4A868-5E32-493E-99BE-B5312DB1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A8D8"/>
                </a:solidFill>
              </a:defRPr>
            </a:pPr>
            <a:r>
              <a:rPr sz="1350" b="1">
                <a:solidFill>
                  <a:srgbClr val="28A8D8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B4BC5-9ED4-45B6-9835-821BFF2F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F"/>
                </a:solidFill>
              </a:defRPr>
            </a:pPr>
            <a:r>
              <a:rPr sz="2700" b="1">
                <a:solidFill>
                  <a:srgbClr val="17212F"/>
                </a:solidFill>
              </a:rPr>
              <a:t>四个原始文件定义了全部可用信息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0C58A-314D-481E-9A62-EA02B65F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27B21-39C0-42EF-8FCE-78060E42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878"/>
                </a:solidFill>
              </a:defRPr>
            </a:pPr>
            <a:r>
              <a:rPr sz="1350" b="0">
                <a:solidFill>
                  <a:srgbClr val="5C6878"/>
                </a:solidFill>
              </a:rPr>
              <a:t>测试点只有位置；训练信道负责监督，地图点云提供传播上下文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6270C-EC0B-4615-9897-A9DFE625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62500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AB156-45D6-44E5-8D78-26EAE24A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F"/>
                </a:solidFill>
              </a:defRPr>
            </a:pPr>
            <a:r>
              <a:rPr sz="1800" b="1">
                <a:solidFill>
                  <a:srgbClr val="17212F"/>
                </a:solidFill>
              </a:rPr>
              <a:t>数据空间全景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D7F62-6847-426D-AD33-CC897949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2672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B8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C33BF-3A2A-4961-93D8-A4371B49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361" y="337858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B008D-396E-47CE-A860-1E42B6B3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550" y="34953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41523-F6A7-4B70-B7CF-6865CA66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069" y="422750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C3B05-3ED0-4BCD-BCBF-566B4560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262" y="279677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6C8F3-B8EB-400E-86CD-7158D1E1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584" y="330354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88B28-ECAD-433A-B295-BD5F0375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823" y="295725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B22C7-CFEC-4136-88D6-CC6F5777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9" y="380131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088F5-4BA3-4E24-9C02-CE5A2E2C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671" y="281590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DF027-90B5-48F2-9B20-4746402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581" y="258841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83A25-2747-4980-BEB2-E7DCA630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962" y="389004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76BD5-D898-4268-B032-851FC3E0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307" y="262653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4116B-6A99-48C2-BCDF-C762AC3E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567" y="36366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598B1-5378-4F14-A6D9-24376005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74" y="368775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876A8-7E94-4D2A-8366-F95264FF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38" y="266320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5E1504-9EAB-434D-80A4-90A4F5F6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132" y="399962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C9DA8-DE19-4801-92C6-68912AAB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131" y="268908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AF7ABD-B627-4F28-8373-3149D6DF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88" y="301997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39812C-5D91-4350-A4ED-2834D2C5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281" y="307908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E261A-668F-41C7-A8AD-AD257F8B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661" y="299932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F2754E-EAEC-4D42-B0F9-51A8FDBA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982" y="260794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EAE81B-5A6A-407D-9278-0E47024E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066" y="3491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E7575-56DA-4D89-8E07-DB72B2C9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508" y="298572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CAFCFF-1DAE-46B2-AF6F-B95DFF69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272" y="335184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531891-C7C7-49E9-B50B-CF71DDD7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533" y="307891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54E3DF-A917-4592-86A4-5AA02491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946" y="416915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04EBA7-D26D-40BE-9A74-A4769544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953" y="389169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F0CC04-79F6-44E5-A12A-401520A7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625" y="314989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FAB032-C356-4110-8C5A-6EF0B97A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6" y="294209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84F1D3-BFE1-42D9-AF0C-EB1E3C2B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17" y="29836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272B90-5735-4E4D-BE09-3191E940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969" y="351464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4C29EB-EAE5-4CC9-8CF7-7EB535B8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06" y="310979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FA68F7-F76A-4ED8-BD8B-EA070AC7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668" y="356044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052AE4-5758-4485-8D7E-665CFE9D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06" y="248940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2DCB23-C3B8-4A48-AAB2-1A8E76C8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108" y="280069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5B1A4D-9F46-424C-A05E-D1CA11C5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742" y="35989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84755E-278B-4324-826B-B8AA3349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163" y="394413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D345A9-2D8B-4F60-B970-DA78116D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722" y="28149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313E30-CA09-4259-A443-1D672076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183" y="340700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D68F02-698B-495A-B4E9-99915036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489" y="389459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B231E5-57A8-4C0D-BA3C-59B014E6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103" y="291651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96B73D-9BEB-48D6-9957-9A865A22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713" y="26796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30746F-0C04-4753-9771-6E28EED3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059" y="322632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41E54C-383F-4515-A103-3522AEF2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020" y="366033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6183F7-0C98-46FD-9D8E-F1FF7759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858" y="3036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90556D-B5C7-42D2-9785-FF267070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619" y="245560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76F54A-E620-4F8A-A321-8C8A63E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492" y="41568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11EBFE-0D6E-4F38-957B-CEB88978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145" y="42178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A1BC54-1E35-4EA0-810D-6AB498E8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414" y="410278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164C3C-A856-400E-8788-B51EA627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573" y="35354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BFB882-84D6-4A51-AABB-183031A2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159" y="438454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BB2E66-06C5-415F-B33C-60306AC3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46" y="430483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630703-90D6-40D5-A9E2-0EAEF903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911" y="294642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7F45E38-F4C5-477E-8076-2FA2EB91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425" y="34101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6B4C73-478B-4FAC-B51D-7166797D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10" y="35920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4F5F20-ABA2-4DA9-89D9-70F01959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345" y="312804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EA132A-3A60-4AC2-9EC8-77144A54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117" y="251565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527AA8A-88CD-4E73-ABE9-46CEE44B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405" y="403514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664788-38C3-4CE7-8F8A-C58D2FAD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291" y="274431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4EE7DF-E6A3-4B52-A584-0C672D76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604" y="4114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D4B0B23-54ED-4EE4-BE10-69DD8AA9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770" y="325359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EA760F-516D-4F9D-B49F-116A1DCA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533" y="431242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A404E8-7B53-4B51-A8A2-D71F1922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407" y="364302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6D28FE-E795-4B29-840D-E439F89E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84" y="348300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5EB937B-65FF-4DEA-8881-9228890F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961" y="242606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7C07FCD-9EB4-46EC-8717-84033F02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865" y="36437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AA1166-6D06-455C-8DE5-AC46C3F9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23" y="293333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A09765-811D-4A8B-9E72-F70F64B8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596" y="33602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B3CD219-6708-4972-9D13-5CAA693A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908" y="2918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551324B-5F27-4AEC-BFBC-245EBDAC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615" y="388700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23703E9-1EE5-409F-A91F-4DFB3250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281" y="269175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C870F97-4FE7-441F-82B3-B7BD3DF5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324" y="322531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6E8B2B2-4BC8-44C4-AB4C-1D27797C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772" y="349460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B839490-977C-41A3-8EB0-04BA0E7C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029" y="42460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BDD5F5C-FCE0-4125-A5A5-38F137AE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718" y="386129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ECC033A-95D8-4F95-9E7B-43D6A022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377" y="42048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60DA83D-7DB0-4BAE-B209-6A3E8398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249" y="327461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21299E6-2E48-4BDB-B914-A940724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675" y="42071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BED3657-8F1E-447C-B1F8-A934AA3A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937" y="275199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F3E9C47-0BC9-42A4-9359-14E21C49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822" y="400987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E535DD0-DC0B-4BC6-AD76-99F9E9D6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28" y="341601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CCDB652-4972-4D5E-B24A-74C920A1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968" y="374304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CD51109-90C6-4FD0-80A0-67CA55FB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442" y="343891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2C22488-D2E1-4E98-B724-47A7FAAA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314" y="243544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69B75ED-1796-400C-A570-74D49231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992" y="406615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312CF7B-420F-4434-963F-248F8D1A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929" y="279394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604C672-60FD-4433-9BF2-88F3485F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347" y="283435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0D33B5F-8925-49F3-B49A-57319047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031" y="4113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72006C5-7BFE-4577-8A5D-50E8D9BE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098" y="25830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5FE63FF-29BB-4F49-BFBE-C9C96E0E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7" y="34931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8131580-B457-40F4-96EF-460B8130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468" y="427022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9ACC5C4-DECF-4A77-999E-D65A53CD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162" y="39168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01704BB-BECC-452C-8BCD-D97B9E19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629" y="260736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5523014-8EEA-4DE3-945B-255713E6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771" y="431869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2E29028-EDE7-4BBD-A3DD-F29F725B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718" y="396410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CF84B99-369E-44B1-9BF8-313F7A7A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9" y="401832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3826A25-BCDA-4568-B85A-5E640279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575" y="341273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16E972B-C30C-46E9-BB5B-57C006F1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615" y="305840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7ABBC94-4688-4772-9C97-071B906C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033" y="304721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239DA58-0A1D-41A4-91BC-EE69C188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381" y="280774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B5C0684-B5BE-4B9C-B3A9-EFCEA947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6" y="296560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54F810E-FA5C-4EBB-B8D0-4460E044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095" y="429330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76728AA-196B-433E-8F13-BE00060F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338" y="355249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423A06B-E429-4D93-9E15-D101641F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597" y="375466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ECE52C9-908F-43CE-A4AD-A2F8CA48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627" y="270182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BA95B88-6681-4CAE-8210-84CF49F0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081" y="353945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623EABE-EEE5-44A4-A2CC-B88D7BFB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095" y="391799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6ECED91-C708-40C4-8BBC-C85A4A30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245" y="313803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269CF28-24E8-491A-B680-80696279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382" y="25504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94ED3A4-B54B-4AC0-8FDC-BD7FAB53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215" y="310935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D1B7DBA-BE41-4022-98F6-51DC5D21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559" y="279778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D6AA679-C64E-4908-AF0D-D0D750F5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046" y="373852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014B593-306D-4D8D-9044-3BF0871D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836" y="359744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1ECD5CE-3D33-416D-A9EF-80C499FE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57" y="325302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B4A3E45-F1A3-47DC-AF5F-C9A6B64D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317" y="438521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3554C4A-F564-4ADE-8017-5685882D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031" y="387447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2C83EFF-287D-41D9-BBD0-E92C0D1A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505" y="326494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B454962-FD95-49EE-8B6A-8CF29AFA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598" y="290873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E8428A0-99C5-40D5-B23C-CFB3ADBF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907" y="24506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3AE2014-792D-40C1-9224-8065437A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713" y="248028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397747E-48BC-4CC1-9FC4-9EBA0444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368" y="412666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0EA92C2-9599-4334-ACF8-9344F25E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101" y="24144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79361FA-03A1-4A21-9ABF-457B3CCE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386" y="420975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2A49463-F286-4D17-B70E-A696EB4D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9795" y="333782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EBB4105-AC03-4F48-AF50-2BCD374C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189" y="316965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897DA48-F85B-4B3F-A5BF-F464BB1F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930" y="376401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3301029-372D-40BC-B996-4B60191C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249" y="249573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EA71E4D-F7A6-4F68-836D-669CAEC1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982" y="362808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CEDC473-59E1-4686-B370-C44438EF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297" y="406826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0D1C6DC-D7C9-4ED0-A2F4-D75A56B6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568" y="333487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B0BD112-FEBA-46B7-9279-FB60C814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134" y="433037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7374C61-3D6E-4838-B697-5D702282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788" y="269136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9EFD20A-8221-446B-B6DE-5D52AC26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926" y="266183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F031717-12BE-44B1-B4C7-63AC50DB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003" y="286817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0A5D330-FA71-4D0B-AE28-A5B75ED2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836" y="274513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0E569EC-72DE-4309-9DD1-8E9CAB9C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129" y="28614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E488CDC-4636-4A0C-A85C-7C153BDF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730" y="273198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1E6BDD0-4AD8-4360-982B-C8B45D6D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041" y="27766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885548C-B8F8-48BD-A9B6-9EB0A815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83" y="278422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935A7FA-3EBE-4158-929C-6AFCADD3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33" y="281973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0FADCB0-9E80-4B29-9E5F-BEABEE9F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425" y="281841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77D31DD-4A9A-44C8-9244-12B5D833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139" y="313458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AF7CB89-AAC1-4390-954B-AE2BE466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588" y="30951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0131F9F-938B-44CD-9E35-9FFB7227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536" y="30581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172E170-D329-421F-98CD-F193BDA5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089" y="307690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18A89BC-3E3A-4BDC-9B94-86476DA4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441" y="317174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4251235-7B24-471C-8A96-39317DBB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546" y="323017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E4271A3-261E-4DCC-BA84-E13FC4E2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164" y="31886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43498FF-4C8E-49CE-AD55-BEF9DBE4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909" y="313937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87930F4-6BDC-455F-ADC7-A19D7F59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931" y="32036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B8DC0C2-E00E-4054-958E-A1D42D2B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221" y="310525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69D50C3-082B-4255-B368-B5BA84CB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21" y="34920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CDD628F-B04B-43F6-89C1-07788D3C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21" y="354106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B8E20DD-A5AF-4C3C-999F-1CCCD120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826" y="36238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835F1EA-D7C0-4485-AC3F-DC2B64E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111" y="360164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9688DC1-972B-4D14-BECA-37CB9BF0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52" y="350934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6793F7A-0421-4E24-BCC5-663AD646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249" y="354620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1F016BA-7187-4D60-B47B-7F833555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343" y="353215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DF76A78-36CE-46A6-9542-AB66F689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49" y="344077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91E6447-3B90-49CB-828D-BEE1A2AD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675" y="355925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DE79AE6-31BB-49CE-A80B-5051AEBD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088" y="34872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A30C348-09CD-4DFD-8B24-94B9F72F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540" y="401589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8DB1FAF-C27A-4F6A-9536-B87D17F2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4929" y="387155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221EC62-CAD7-418F-9289-355FA606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057" y="3853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CAAA363-57B7-407D-9481-1428856A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390" y="387248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15FE78C-4AF0-4C3D-871F-762D7131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965" y="382855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7330FA9-1783-4551-BAEC-B164A69D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495" y="386267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E44B8B1-4669-4EFC-A8D3-8ED1EBAD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423" y="38253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C37F672-5ADF-40DB-9F3B-B6E2B407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032" y="391753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6033809-D933-4A17-8ABB-3535B51E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88" y="390649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1978AC9-D8C2-4E88-9FDB-F78D407F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286" y="395604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2121D31-5B98-4099-86B0-7887E890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505" y="296167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070BAB8-7A57-48AE-818D-61E95E10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361" y="28306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8982D40-295A-4B84-99A5-A13E3A15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919" y="282044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4710DAD-149F-4887-AAF1-3060D435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607" y="287761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983F22C-6173-4FD1-BF94-28A049D3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42" y="294427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BC3D179-F8EA-499D-A396-E7841607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0" y="29533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2C31ED0-3CED-460D-80DF-F2916A9D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178" y="298056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A146AD7-61AE-45B4-95DE-9D726C6F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904" y="297230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637640C-663A-4D00-AB76-AB797FAC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379" y="29628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ADD9F40-4F61-4152-AAD2-93B0CDA2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575" y="285530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7E86A56-9064-4B4A-8AEE-035AF448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57550"/>
            <a:ext cx="238125" cy="238125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11430">
            <a:solidFill>
              <a:srgbClr val="102A4C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75622FA-8F34-4398-930D-72C3DCB6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147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C"/>
                </a:solidFill>
              </a:defRPr>
            </a:pPr>
            <a:r>
              <a:rPr sz="975" b="1">
                <a:solidFill>
                  <a:srgbClr val="102A4C"/>
                </a:solidFill>
              </a:rPr>
              <a:t>BS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1A23ED8B-2723-4D2B-BECB-BEF253BB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339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AA83785-4ED2-4B5D-A68E-F5B794B9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006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6D2"/>
                </a:solidFill>
              </a:defRPr>
            </a:pPr>
            <a:r>
              <a:rPr sz="1050" b="1">
                <a:solidFill>
                  <a:srgbClr val="1676D2"/>
                </a:solidFill>
              </a:rPr>
              <a:t>蓝/青：训练位置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790D5B2-DE28-45DE-AD53-FAA484E7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339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solidFill>
              <a:srgbClr val="FDECEC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666C8B4-DAC4-493A-AE92-02B562CA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006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4A4A"/>
                </a:solidFill>
              </a:defRPr>
            </a:pPr>
            <a:r>
              <a:rPr sz="1050" b="1">
                <a:solidFill>
                  <a:srgbClr val="D94A4A"/>
                </a:solidFill>
              </a:rPr>
              <a:t>红：测试矩形岛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463947D-01CE-4E17-B2F9-E3A1E075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0">
            <a:solidFill>
              <a:srgbClr val="FFF5D6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430B2FD-CAD2-4E76-9C3C-A9757349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006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A4C"/>
                </a:solidFill>
              </a:defRPr>
            </a:pPr>
            <a:r>
              <a:rPr sz="1050" b="1">
                <a:solidFill>
                  <a:srgbClr val="102A4C"/>
                </a:solidFill>
              </a:rPr>
              <a:t>★：基站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F76AF8E-5E13-4D55-8662-E84C8572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878"/>
                </a:solidFill>
              </a:defRPr>
            </a:pPr>
            <a:r>
              <a:rPr sz="1200" b="1">
                <a:solidFill>
                  <a:srgbClr val="5C6878"/>
                </a:solidFill>
              </a:rPr>
              <a:t>测试集集中在多个小矩形中，因此验证也必须制造空间空洞。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EFE92F8-997C-4D3E-9A45-43B1B02F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28750"/>
            <a:ext cx="5905500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8D518C1-4563-4F3B-ACEB-C89DCB9A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F"/>
                </a:solidFill>
              </a:defRPr>
            </a:pPr>
            <a:r>
              <a:rPr sz="1800" b="1">
                <a:solidFill>
                  <a:srgbClr val="17212F"/>
                </a:solidFill>
              </a:rPr>
              <a:t>原始输入契约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EF2ED05-B2E1-4587-AA90-4091EF4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526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909A9CF-9FC0-4987-B4C5-211DC191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F"/>
                </a:solidFill>
              </a:defRPr>
            </a:pPr>
            <a:r>
              <a:rPr sz="1425" b="1">
                <a:solidFill>
                  <a:srgbClr val="17212F"/>
                </a:solidFill>
              </a:rPr>
              <a:t>训练信道 H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2F49D84-508C-4E00-8054-7037F571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5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C"/>
                </a:solidFill>
              </a:defRPr>
            </a:pPr>
            <a:r>
              <a:rPr sz="1350" b="1">
                <a:solidFill>
                  <a:srgbClr val="102A4C"/>
                </a:solidFill>
              </a:rPr>
              <a:t>4000×256×4×192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EF7461B-02FB-41A4-8658-DEC57AE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526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complex64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63F9707-0E6E-43C4-B724-2CF7D5A9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01D326D-B884-4B90-90FE-2E7E6935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956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56C09C4-B683-46B1-A752-DAE6564C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F"/>
                </a:solidFill>
              </a:defRPr>
            </a:pPr>
            <a:r>
              <a:rPr sz="1425" b="1">
                <a:solidFill>
                  <a:srgbClr val="17212F"/>
                </a:solidFill>
              </a:rPr>
              <a:t>训练位置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5CEC920-64A7-4400-8877-7AAC4ACA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95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C"/>
                </a:solidFill>
              </a:defRPr>
            </a:pPr>
            <a:r>
              <a:rPr sz="1350" b="1">
                <a:solidFill>
                  <a:srgbClr val="102A4C"/>
                </a:solidFill>
              </a:rPr>
              <a:t>4000×3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CB90AAC-4D8D-4538-A27D-F4DC8092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56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坐标监督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015AF11B-4486-4A43-9D98-D994ABF1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B209F04-D83B-47FB-9422-071E8940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385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82906D9-FB4B-4C19-BBF6-F70187A8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F"/>
                </a:solidFill>
              </a:defRPr>
            </a:pPr>
            <a:r>
              <a:rPr sz="1425" b="1">
                <a:solidFill>
                  <a:srgbClr val="17212F"/>
                </a:solidFill>
              </a:rPr>
              <a:t>测试位置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2113DE9-63F0-46D3-BD59-0AA71BB0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38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C"/>
                </a:solidFill>
              </a:defRPr>
            </a:pPr>
            <a:r>
              <a:rPr sz="1350" b="1">
                <a:solidFill>
                  <a:srgbClr val="102A4C"/>
                </a:solidFill>
              </a:rPr>
              <a:t>500×3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0430E26D-F11A-4DED-94B4-DD249401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385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无信道真值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8BBA1F3-BE70-4AC1-9139-36E49EE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8C03894-5D89-415A-A056-85C117C6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815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0">
            <a:solidFill>
              <a:srgbClr val="229B68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C232709-9BC7-4666-BB09-3C702151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F"/>
                </a:solidFill>
              </a:defRPr>
            </a:pPr>
            <a:r>
              <a:rPr sz="1425" b="1">
                <a:solidFill>
                  <a:srgbClr val="17212F"/>
                </a:solidFill>
              </a:rPr>
              <a:t>场景点云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A5D334E-7D0F-4A28-AB4B-723CEE35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81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C"/>
                </a:solidFill>
              </a:defRPr>
            </a:pPr>
            <a:r>
              <a:rPr sz="1350" b="1">
                <a:solidFill>
                  <a:srgbClr val="102A4C"/>
                </a:solidFill>
              </a:rPr>
              <a:t>Round2_Map.ply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22F059A-D553-4771-B722-89441D39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几何/遮挡特征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0D43FF6-1E48-4DDE-86C0-BCE22F9F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E6B249C-6E05-493D-9A99-4B265276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19700"/>
            <a:ext cx="5353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2CAF1D2-6992-4931-AB23-BA3150AE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53050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历史 P9 / P10 / Phase40 数组不是模型输入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FA34FCA-C58B-4745-AF58-9A70973F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878"/>
                </a:solidFill>
              </a:defRPr>
            </a:pPr>
            <a:r>
              <a:rPr sz="750" b="0">
                <a:solidFill>
                  <a:srgbClr val="5C6878"/>
                </a:solidFill>
              </a:rPr>
              <a:t>[源码] README.md / build_phase93_from_raw.py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7531FC2-B93C-4C5C-B7F9-6FC29162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676D2"/>
                </a:solidFill>
              </a:defRPr>
            </a:pPr>
            <a:r>
              <a:rPr sz="750" b="1">
                <a:solidFill>
                  <a:srgbClr val="1676D2"/>
                </a:solidFill>
              </a:rPr>
              <a:t>ROUND2 / PHASE93   02</a:t>
            </a:r>
          </a:p>
        </p:txBody>
      </p:sp>
    </p:spTree>
    <p:extLst>
      <p:ext uri="{BB962C8B-B14F-4D97-AF65-F5344CB8AC3E}">
        <p14:creationId xmlns:p14="http://schemas.microsoft.com/office/powerpoint/2010/main" val="64819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B827CF-CB44-4675-82ED-CC5B480E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A8D8"/>
                </a:solidFill>
              </a:defRPr>
            </a:pPr>
            <a:r>
              <a:rPr sz="1350" b="1">
                <a:solidFill>
                  <a:srgbClr val="28A8D8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A82CC-99A3-4CFE-896B-0AE0D720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F"/>
                </a:solidFill>
              </a:defRPr>
            </a:pPr>
            <a:r>
              <a:rPr sz="2700" b="1">
                <a:solidFill>
                  <a:srgbClr val="17212F"/>
                </a:solidFill>
              </a:rPr>
              <a:t>全链路分成六步，每一步都可审计、可恢复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88A33-B9AD-46C8-8CEF-C3272B8A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0E2C4-0D65-4C47-B869-674B2B2A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878"/>
                </a:solidFill>
              </a:defRPr>
            </a:pPr>
            <a:r>
              <a:rPr sz="1350" b="0">
                <a:solidFill>
                  <a:srgbClr val="5C6878"/>
                </a:solidFill>
              </a:rPr>
              <a:t>先生成监督与空间结构，再逐阶段把功率目标投影回复数信道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FA27D-E782-470F-858E-9AF7D272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60449-CC7B-433D-AB4B-CDB7CD50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57475"/>
            <a:ext cx="9563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80A83-2F4E-4550-AE99-FBDDA992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95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5F3A3-2454-46B2-A681-BC1A6AE8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52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6C978-238E-4CFD-9CDF-D258F234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813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2F"/>
                </a:solidFill>
              </a:defRPr>
            </a:pPr>
            <a:r>
              <a:rPr sz="1500" b="1">
                <a:solidFill>
                  <a:srgbClr val="17212F"/>
                </a:solidFill>
              </a:rPr>
              <a:t>数据预处理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000F9-CCA3-4796-8F97-9773483D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956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878"/>
                </a:solidFill>
              </a:defRPr>
            </a:pPr>
            <a:r>
              <a:rPr sz="1050" b="0">
                <a:solidFill>
                  <a:srgbClr val="5C6878"/>
                </a:solidFill>
              </a:rPr>
              <a:t>全零异常点</a:t>
            </a:r>
          </a:p>
          <a:p xmlns:a="http://schemas.openxmlformats.org/drawingml/2006/main">
            <a:pPr>
              <a:defRPr sz="1050" b="0">
                <a:solidFill>
                  <a:srgbClr val="5C6878"/>
                </a:solidFill>
              </a:defRPr>
            </a:pPr>
            <a:r>
              <a:rPr sz="1050" b="0">
                <a:solidFill>
                  <a:srgbClr val="5C6878"/>
                </a:solidFill>
              </a:rPr>
              <a:t>阵列顺序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FDCE6-94A7-48E5-A32B-F9717C84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95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C8C27-7397-44F9-B0EE-05F42E41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52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AF993-21CD-41A0-987B-6883389D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813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2F"/>
                </a:solidFill>
              </a:defRPr>
            </a:pPr>
            <a:r>
              <a:rPr sz="1500" b="1">
                <a:solidFill>
                  <a:srgbClr val="17212F"/>
                </a:solidFill>
              </a:rPr>
              <a:t>物理特征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A2D58-0054-4F2A-A782-D9291F96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956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878"/>
                </a:solidFill>
              </a:defRPr>
            </a:pPr>
            <a:r>
              <a:rPr sz="1050" b="0">
                <a:solidFill>
                  <a:srgbClr val="5C6878"/>
                </a:solidFill>
              </a:rPr>
              <a:t>地图上下文</a:t>
            </a:r>
          </a:p>
          <a:p xmlns:a="http://schemas.openxmlformats.org/drawingml/2006/main">
            <a:pPr>
              <a:defRPr sz="1050" b="0">
                <a:solidFill>
                  <a:srgbClr val="5C6878"/>
                </a:solidFill>
              </a:defRPr>
            </a:pPr>
            <a:r>
              <a:rPr sz="1050" b="0">
                <a:solidFill>
                  <a:srgbClr val="5C6878"/>
                </a:solidFill>
              </a:rPr>
              <a:t>PAS / PDP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21BBB-ED15-468A-9F8B-0BCB502E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495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CC722-A150-48AE-AC37-D20D4CE4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52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3949C-1859-487A-9CF0-45AB560A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813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2F"/>
                </a:solidFill>
              </a:defRPr>
            </a:pPr>
            <a:r>
              <a:rPr sz="1500" b="1">
                <a:solidFill>
                  <a:srgbClr val="17212F"/>
                </a:solidFill>
              </a:rPr>
              <a:t>空间预测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832A5-A3FF-4598-AF1C-2F3A28D5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956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878"/>
                </a:solidFill>
              </a:defRPr>
            </a:pPr>
            <a:r>
              <a:rPr sz="1050" b="0">
                <a:solidFill>
                  <a:srgbClr val="5C6878"/>
                </a:solidFill>
              </a:rPr>
              <a:t>分岛邻域</a:t>
            </a:r>
          </a:p>
          <a:p xmlns:a="http://schemas.openxmlformats.org/drawingml/2006/main">
            <a:pPr>
              <a:defRPr sz="1050" b="0">
                <a:solidFill>
                  <a:srgbClr val="5C6878"/>
                </a:solidFill>
              </a:defRPr>
            </a:pPr>
            <a:r>
              <a:rPr sz="1050" b="0">
                <a:solidFill>
                  <a:srgbClr val="5C6878"/>
                </a:solidFill>
              </a:rPr>
              <a:t>矩形 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A2A28-B3A4-4FD3-ABD0-FABCF171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E5398-9B18-4D0C-997F-A8396866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0552B-CC2B-4C57-9204-D8502EAE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813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2F"/>
                </a:solidFill>
              </a:defRPr>
            </a:pPr>
            <a:r>
              <a:rPr sz="1500" b="1">
                <a:solidFill>
                  <a:srgbClr val="17212F"/>
                </a:solidFill>
              </a:rPr>
              <a:t>复信道重建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B6E471-5401-4650-A444-FEA0E28D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956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878"/>
                </a:solidFill>
              </a:defRPr>
            </a:pPr>
            <a:r>
              <a:rPr sz="1050" b="0">
                <a:solidFill>
                  <a:srgbClr val="5C6878"/>
                </a:solidFill>
              </a:rPr>
              <a:t>角域/时延域</a:t>
            </a:r>
          </a:p>
          <a:p xmlns:a="http://schemas.openxmlformats.org/drawingml/2006/main">
            <a:pPr>
              <a:defRPr sz="1050" b="0">
                <a:solidFill>
                  <a:srgbClr val="5C6878"/>
                </a:solidFill>
              </a:defRPr>
            </a:pPr>
            <a:r>
              <a:rPr sz="1050" b="0">
                <a:solidFill>
                  <a:srgbClr val="5C6878"/>
                </a:solidFill>
              </a:rPr>
              <a:t>交替投影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644E27-3A40-422D-B9A4-43521729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495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89FC6-BF10-459A-BE29-371E5991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552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388573-4BA1-4713-A428-6BE33647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9813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2F"/>
                </a:solidFill>
              </a:defRPr>
            </a:pPr>
            <a:r>
              <a:rPr sz="1500" b="1">
                <a:solidFill>
                  <a:srgbClr val="17212F"/>
                </a:solidFill>
              </a:rPr>
              <a:t>阶段校准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11AFA9-0D4F-452E-B462-FC527CAD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878"/>
                </a:solidFill>
              </a:defRPr>
            </a:pPr>
            <a:r>
              <a:rPr sz="1050" b="0">
                <a:solidFill>
                  <a:srgbClr val="5C6878"/>
                </a:solidFill>
              </a:rPr>
              <a:t>Phase6→P9</a:t>
            </a:r>
          </a:p>
          <a:p xmlns:a="http://schemas.openxmlformats.org/drawingml/2006/main">
            <a:pPr>
              <a:defRPr sz="1050" b="0">
                <a:solidFill>
                  <a:srgbClr val="5C6878"/>
                </a:solidFill>
              </a:defRPr>
            </a:pPr>
            <a:r>
              <a:rPr sz="1050" b="0">
                <a:solidFill>
                  <a:srgbClr val="5C6878"/>
                </a:solidFill>
              </a:rPr>
              <a:t>P10→anti-P10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2D2C7-74F3-4E2E-A889-303BCEF0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495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00632E-6B3D-4E0D-BF60-977396AC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552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62B3F6-ABBC-40B9-850E-20EB9520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9813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2F"/>
                </a:solidFill>
              </a:defRPr>
            </a:pPr>
            <a:r>
              <a:rPr sz="1500" b="1">
                <a:solidFill>
                  <a:srgbClr val="17212F"/>
                </a:solidFill>
              </a:rPr>
              <a:t>最终验收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96958D-4D06-476B-B4F1-F8060189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2956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878"/>
                </a:solidFill>
              </a:defRPr>
            </a:pPr>
            <a:r>
              <a:rPr sz="1050" b="0">
                <a:solidFill>
                  <a:srgbClr val="5C6878"/>
                </a:solidFill>
              </a:rPr>
              <a:t>g5/g6 局部化</a:t>
            </a:r>
          </a:p>
          <a:p xmlns:a="http://schemas.openxmlformats.org/drawingml/2006/main">
            <a:pPr>
              <a:defRPr sz="1050" b="0">
                <a:solidFill>
                  <a:srgbClr val="5C6878"/>
                </a:solidFill>
              </a:defRPr>
            </a:pPr>
            <a:r>
              <a:rPr sz="1050" b="0">
                <a:solidFill>
                  <a:srgbClr val="5C6878"/>
                </a:solidFill>
              </a:rPr>
              <a:t>shape / finite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19B230-4849-4E86-A054-E16AE576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29125"/>
            <a:ext cx="10248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B8D4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D82E66-A55B-4FC4-BCF7-F7D8AAE1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19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76D2"/>
                </a:solidFill>
              </a:defRPr>
            </a:pPr>
            <a:r>
              <a:rPr sz="1650" b="1">
                <a:solidFill>
                  <a:srgbClr val="1676D2"/>
                </a:solidFill>
              </a:rPr>
              <a:t>训练真值只在训练点使用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B1D6C6-25C0-43F9-B527-95005420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6B38"/>
                </a:solidFill>
              </a:defRPr>
            </a:pPr>
            <a:r>
              <a:rPr sz="225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E50DDC-EDD2-4053-9BFB-61914E3F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19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测试侧只读坐标和地图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B57BE9-34C0-4043-BC4C-3AFA98C3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72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6B38"/>
                </a:solidFill>
              </a:defRPr>
            </a:pPr>
            <a:r>
              <a:rPr sz="225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020CFC-7EA1-450A-9A9E-B752F08C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9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9B68"/>
                </a:solidFill>
              </a:defRPr>
            </a:pPr>
            <a:r>
              <a:rPr sz="1650" b="1">
                <a:solidFill>
                  <a:srgbClr val="229B68"/>
                </a:solidFill>
              </a:rPr>
              <a:t>输出复数张量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1076AA-6637-4CAA-BBFD-F94B0F15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878"/>
                </a:solidFill>
              </a:defRPr>
            </a:pPr>
            <a:r>
              <a:rPr sz="750" b="0">
                <a:solidFill>
                  <a:srgbClr val="5C6878"/>
                </a:solidFill>
              </a:rPr>
              <a:t>[源码] build_phase93_from_raw.py — 57 named stages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C25AC8-3735-4B05-8BCE-0B49AEA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676D2"/>
                </a:solidFill>
              </a:defRPr>
            </a:pPr>
            <a:r>
              <a:rPr sz="750" b="1">
                <a:solidFill>
                  <a:srgbClr val="1676D2"/>
                </a:solidFill>
              </a:rPr>
              <a:t>ROUND2 / PHASE93   03</a:t>
            </a:r>
          </a:p>
        </p:txBody>
      </p:sp>
    </p:spTree>
    <p:extLst>
      <p:ext uri="{BB962C8B-B14F-4D97-AF65-F5344CB8AC3E}">
        <p14:creationId xmlns:p14="http://schemas.microsoft.com/office/powerpoint/2010/main" val="259415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442E66A-7DDB-4C12-A8D5-5B25E46C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A8D8"/>
                </a:solidFill>
              </a:defRPr>
            </a:pPr>
            <a:r>
              <a:rPr sz="1350" b="1">
                <a:solidFill>
                  <a:srgbClr val="28A8D8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6781E-6298-4A75-9C13-6F462D16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F"/>
                </a:solidFill>
              </a:defRPr>
            </a:pPr>
            <a:r>
              <a:rPr sz="2700" b="1">
                <a:solidFill>
                  <a:srgbClr val="17212F"/>
                </a:solidFill>
              </a:rPr>
              <a:t>异常值先剔除，验证集再模拟官方矩形空洞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3E71B-BCA2-4F60-B293-9AB931AB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4DA7A-06AD-4244-8069-C803AA2F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878"/>
                </a:solidFill>
              </a:defRPr>
            </a:pPr>
            <a:r>
              <a:rPr sz="1350" b="0">
                <a:solidFill>
                  <a:srgbClr val="5C6878"/>
                </a:solidFill>
              </a:rPr>
              <a:t>随机切分会高估插值能力；矩形留空检验的才是官方测试所需的外推能力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F6E5F-0BFF-4611-97CF-81E6D718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95750" cy="44005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B7427-0B61-4DD1-9FD9-9EABF9A1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F"/>
                </a:solidFill>
              </a:defRPr>
            </a:pPr>
            <a:r>
              <a:rPr sz="1800" b="1">
                <a:solidFill>
                  <a:srgbClr val="17212F"/>
                </a:solidFill>
              </a:rPr>
              <a:t>全零信道 = outlier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1ABD7-ABD9-4472-8012-AAD2E5A2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C"/>
                </a:solidFill>
              </a:defRPr>
            </a:pPr>
            <a:r>
              <a:rPr sz="2100" b="1">
                <a:solidFill>
                  <a:srgbClr val="102A4C"/>
                </a:solidFill>
              </a:rPr>
              <a:t>Eᵢ = Σ |Hᵢ[a,u,f]|²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A6DCD-7C7E-4585-AF71-E9A321B0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C196F-F692-4FED-BC72-686B0958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3114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ECF1A-12BD-4495-A966-BD743D43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933700"/>
            <a:ext cx="219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B0266-BB83-43A7-8DCD-4374BC04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6D2"/>
                </a:solidFill>
              </a:defRPr>
            </a:pPr>
            <a:r>
              <a:rPr sz="1350" b="1">
                <a:solidFill>
                  <a:srgbClr val="1676D2"/>
                </a:solidFill>
              </a:rPr>
              <a:t>3738 有效点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B68AE-E0BD-4D09-874B-C45B823E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95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262 异常点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7D57F-86E4-459E-AB0A-A5499919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766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6D2"/>
                </a:solidFill>
              </a:defRPr>
            </a:pPr>
            <a:r>
              <a:rPr sz="2400" b="1">
                <a:solidFill>
                  <a:srgbClr val="1676D2"/>
                </a:solidFill>
              </a:rPr>
              <a:t>93.45%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61151-C800-449C-889A-50AF118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957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进入训练、邻域与锚点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9E75B-739F-4D08-A73C-FAA32D19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766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4A4A"/>
                </a:solidFill>
              </a:defRPr>
            </a:pPr>
            <a:r>
              <a:rPr sz="2400" b="1">
                <a:solidFill>
                  <a:srgbClr val="D94A4A"/>
                </a:solidFill>
              </a:rPr>
              <a:t>6.55%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FA5EB-B5B6-4B1A-865C-64C28EAC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957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在建模前删除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FB13E-D552-4468-9DC4-DE0C8C19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3638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4F9CE-54E3-475D-87E5-16130951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train_energy.npy 由原始信道现场计算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9D0B1-A729-4D7F-A003-EFDF599B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66850"/>
            <a:ext cx="662940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A18C43-6A3A-44D5-BC14-88D5D5F6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9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F"/>
                </a:solidFill>
              </a:defRPr>
            </a:pPr>
            <a:r>
              <a:rPr sz="1800" b="1">
                <a:solidFill>
                  <a:srgbClr val="17212F"/>
                </a:solidFill>
              </a:rPr>
              <a:t>5 折矩形 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E0E7B-B9A9-4903-BBE9-A423F58B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71700"/>
            <a:ext cx="3905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11430">
            <a:solidFill>
              <a:srgbClr val="B8D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5E4F9-87E4-4E13-9BC4-02D96261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889" y="281831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C9ACF-CC4B-47DA-8B59-DF732ABD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224" y="267543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4A8A5-0477-49CC-BB13-027C5A15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81" y="249921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43D74A-5254-4AD1-9B2D-A7D4FE61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902" y="31510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09F7AF-1F5E-49D5-9F05-18533E3B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838" y="34950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FF01D-395C-4655-A2B4-9B7E2E13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173" y="359674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9A1782-375B-4B10-BF85-5EA6AA9A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202" y="390505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A73586-7F60-49C9-835B-72251F93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462" y="433265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6595B6-56F0-4D47-B921-3CFBDE61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314" y="377142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AEC09-1044-40C1-A700-0B3DE9A9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128" y="298424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2A6259-F64C-4DEC-8477-48E65972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906" y="353515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CF9C54-7F32-4895-AED3-77C81727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091" y="342497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27521E-0F99-4C07-84F5-B9C3C997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97" y="389737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92B26A-FD7D-4947-BB39-18C2820D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086" y="491487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592F1A-2AB6-420D-9E93-86C46FC0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94913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6FE0F2-88D3-4CAA-B33E-85885B99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332" y="487370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C13AEC-FB9D-494C-B4BC-5F010792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69" y="293238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0D8700-0A7E-4B2D-A1F9-C09816BA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242" y="300842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D8F581-A5BA-454C-ACA5-69BF69C6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545" y="399618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B5E4E1-FE03-4450-87F8-3E631A48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492" y="35302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6EE4C0-E3AD-4004-AE67-7855E87D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087" y="341761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66566B-41DF-4535-8020-B2D6AA39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1805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22E9F2-CA3B-4672-931E-FD0601A8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998" y="371009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04AD7C-3B3C-4A90-AA59-FAAAA7F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369" y="4204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6A09BA-CF35-48B9-9BBB-B16FC393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398" y="487542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FA5AC7-B92F-4E34-A1C5-9EAC84B0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70" y="388859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D0D85F-08EF-4A57-8EAF-C9FDA2DF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723" y="372768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674B01-13A5-4D86-A7A8-9EE5FC3B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540" y="337095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238CF8-CC4D-4BC0-8311-FCEEE7A6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787" y="352186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8B042F-B467-4985-ADCC-D6AD4E59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407" y="482425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4E0171-0DDB-43F5-8C93-92AB0E18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805" y="343759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730060-4383-49A3-96C4-E44C8222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058" y="244581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5D160F-1FBB-43CA-BB66-B271F2D4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572" y="380803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C8BE26-8B63-42ED-B866-8F9C6056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74" y="321675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30E504-B303-421F-9ACE-6F2AD24D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975" y="404367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465D6D-7608-44F9-97C4-CC582DF5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465" y="277620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68F0AC-AF3A-4431-86CB-630F41AB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721" y="329056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878A49-2CF8-4466-B160-258A5102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713" y="308823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626A3B-E93E-47D0-BC42-4F223497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500" y="488061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8F999D-F504-4071-869E-13CFA76A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072" y="298651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F78E8E-927E-4434-AE64-1FF3614F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086" y="487620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55C789-073D-4A2B-A45F-9C0951A8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296" y="359618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D0B889-9620-4B11-B9B8-C1D33EE8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475" y="34755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6B29B60-449D-4811-829B-D7C5FDA2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286" y="373393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D264E0D-E0B0-4FEF-8CFC-C3BB445F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039" y="44962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C1FEA5-0D99-4165-86B5-EF2B6685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534" y="315625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B28956-9EA4-4538-8C7B-EED1CF4E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741" y="283493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3061140-049F-4688-A2A8-88588D08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90" y="39422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3415D2-7F60-41C4-9643-DF0AE586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962" y="30676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801100-5504-4964-8DD5-56A95496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443" y="477261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F2B5A63-756C-4E7D-B2E2-30F3C223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080" y="277904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7B738EC-60B5-409F-91BD-84A51655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355" y="418759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AD9744E-C80C-41B7-B940-3F4E6C45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032" y="39315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3BF2223-D720-4FC7-9A61-8BC35FD2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850" y="264327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7F0F249-C105-4EB3-A23C-29EB97C5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097" y="311486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A00631B-8C06-463F-9A3C-3404DFF3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860" y="454984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A8A6944-6A0E-48F2-89B4-01CBCBC2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566" y="359585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B4F9C4-40E7-4FCD-8F2B-C9D033B4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562" y="334977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345DA9F-FD67-4E4D-A04C-F28F7F85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113" y="41601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4AE22FA-C9C8-413C-989E-A48A1C8C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024" y="32169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A48DC14-6667-4CA9-B856-3CA018DC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632" y="351574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B12FF6D-4D57-481C-B85B-F58FE3FF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125" y="291071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3B53F0C-CB31-4AA7-AC6C-522C71C5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889" y="412112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741BA4D-DD72-43E1-9D50-997F8B37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180" y="410570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A8C0E8F-BCA0-4C63-84CD-2932A587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586" y="276315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F2B37C0-F38D-42A5-8DB7-751D38D7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406" y="339371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F506E6-B2FD-461B-8465-89DDA474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700" y="327419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5822939-825E-408B-B044-2B58BE6C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94" y="286439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F3F8AAC-1042-4A12-982A-E2C58B0F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335" y="456883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146703E-23BF-4F50-B73D-7D7F310A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08699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F063D00-7ACD-41F8-98CE-1B02CFE9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962" y="479053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08EE221-39AA-4B9F-998B-54AC12E7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4551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4312D28-3B2D-47AF-8385-4758F282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674" y="288304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480ACA4-0239-42BD-AF2F-767F9528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423" y="250991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EF264EE-C523-4864-A496-73B21A8B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834" y="343274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8A7821B-8AC9-4C57-AACE-8B112D0B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239" y="387347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B0117CA-1CA6-4FC8-9031-8A6550CA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216" y="36402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12B7659-AF50-4DE6-9E15-DED60D4B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671" y="408588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667630B-AD2B-4D51-B85A-D69CA579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265" y="252083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8D00F0B-9FC6-40C3-8E90-4AC79B79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55" y="478120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E952B9F-9BC2-4894-A536-EA439107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931" y="330854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C8884D2-75AE-4ADA-8571-C4088AD4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930" y="366512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F72852F-08E5-4C2E-800C-09BD5509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426" y="421292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3A94BA9-9650-4315-87AC-24AABB33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541" y="285769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E438626-0F6E-4FEF-92C7-49FA6613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248" y="288694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810E54B-9C86-4ED6-A825-524F533B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524" y="39080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52EF61A-1B79-4076-83AA-1523208A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928" y="266533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4630ADB-FB59-41A9-B2B9-2DD393BE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050" y="286789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CD1767A-365D-41BB-865A-A7E5472D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305" y="325309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2600AFC-CF68-46EC-B0ED-C566E594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314" y="481369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F9B34E7-408E-480E-B0B7-A7699D9B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67" y="344947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750F3B4-C36F-42FD-8952-4C37AF1E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130" y="304297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415157D-4EEE-4357-A794-6B58AD2C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753" y="248098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76B9251-A9DE-4BD7-9C75-63FCF999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895" y="255060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25BE7EA-BB39-4342-B9E2-471D2CF7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063" y="452078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354D782-32B4-439E-B156-1E9DEF9F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243" y="482733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DE74F99-1F62-4C61-A51B-639D5BB0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8171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04FC5E5-DEDB-4439-AD28-0D59AB1F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680" y="489731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6B50FD4-AC7F-40FD-A604-AFFBAB19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165" y="254293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7CAA7FD-8021-4702-87FF-6DE2EFAD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801" y="482241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E31293F-82CC-40AB-B774-8FCD630F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7048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DDDD"/>
          </a:solidFill>
          <a:ln xmlns:a="http://schemas.openxmlformats.org/drawingml/2006/main" w="19050">
            <a:solidFill>
              <a:srgbClr val="D94A4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C764B02-356D-4D67-9A1D-73C9E2F7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38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4A4A"/>
                </a:solidFill>
              </a:defRPr>
            </a:pPr>
            <a:r>
              <a:rPr sz="1125" b="1">
                <a:solidFill>
                  <a:srgbClr val="D94A4A"/>
                </a:solidFill>
              </a:rPr>
              <a:t>V1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3C05F00-9E3A-4131-87EF-1B571D11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781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ADDDD"/>
          </a:solidFill>
          <a:ln xmlns:a="http://schemas.openxmlformats.org/drawingml/2006/main" w="19050">
            <a:solidFill>
              <a:srgbClr val="D94A4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804A8A6-66CF-44D2-80B1-EC44DF75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4A4A"/>
                </a:solidFill>
              </a:defRPr>
            </a:pPr>
            <a:r>
              <a:rPr sz="1125" b="1">
                <a:solidFill>
                  <a:srgbClr val="D94A4A"/>
                </a:solidFill>
              </a:rPr>
              <a:t>V2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07F243A-AD9A-48F9-B2BC-DC164014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90800"/>
            <a:ext cx="666750" cy="6858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ADDDD"/>
          </a:solidFill>
          <a:ln xmlns:a="http://schemas.openxmlformats.org/drawingml/2006/main" w="19050">
            <a:solidFill>
              <a:srgbClr val="D94A4A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EEECFD7-7F32-49DC-8A46-894D701C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62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4A4A"/>
                </a:solidFill>
              </a:defRPr>
            </a:pPr>
            <a:r>
              <a:rPr sz="1125" b="1">
                <a:solidFill>
                  <a:srgbClr val="D94A4A"/>
                </a:solidFill>
              </a:rPr>
              <a:t>V3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5EB5C21-BDA8-42D9-9EF8-0CF6C81E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91000"/>
            <a:ext cx="742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DDDD"/>
          </a:solidFill>
          <a:ln xmlns:a="http://schemas.openxmlformats.org/drawingml/2006/main" w="19050">
            <a:solidFill>
              <a:srgbClr val="D94A4A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338A68F-BB44-49CA-86CD-5600C328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62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4A4A"/>
                </a:solidFill>
              </a:defRPr>
            </a:pPr>
            <a:r>
              <a:rPr sz="1125" b="1">
                <a:solidFill>
                  <a:srgbClr val="D94A4A"/>
                </a:solidFill>
              </a:rPr>
              <a:t>V4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971338A-3E5D-4331-8EAF-3F581C19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ADDDD"/>
          </a:solidFill>
          <a:ln xmlns:a="http://schemas.openxmlformats.org/drawingml/2006/main" w="19050">
            <a:solidFill>
              <a:srgbClr val="D94A4A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2B4B9C3-9534-48B6-B85F-0934636B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4A4A"/>
                </a:solidFill>
              </a:defRPr>
            </a:pPr>
            <a:r>
              <a:rPr sz="1125" b="1">
                <a:solidFill>
                  <a:srgbClr val="D94A4A"/>
                </a:solidFill>
              </a:rPr>
              <a:t>V5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67527E2-AD6F-4CED-9F2B-9BBE51BB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24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6D2"/>
                </a:solidFill>
              </a:defRPr>
            </a:pPr>
            <a:r>
              <a:rPr sz="1350" b="1">
                <a:solidFill>
                  <a:srgbClr val="1676D2"/>
                </a:solidFill>
              </a:rPr>
              <a:t>训练区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7A58C0C-224A-4E41-AEE6-2269454E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C6F59DB-C76D-4A55-9B82-03FF1825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24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12F"/>
                </a:solidFill>
              </a:defRPr>
            </a:pPr>
            <a:r>
              <a:rPr sz="1200" b="0">
                <a:solidFill>
                  <a:srgbClr val="17212F"/>
                </a:solidFill>
              </a:rPr>
              <a:t>测试矩形扩 3 m buffer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C2DB736-FE4A-431B-8F3D-01FF372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6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F9E46A1-43F4-45DF-AE85-98B55B3F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00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12F"/>
                </a:solidFill>
              </a:defRPr>
            </a:pPr>
            <a:r>
              <a:rPr sz="1200" b="0">
                <a:solidFill>
                  <a:srgbClr val="17212F"/>
                </a:solidFill>
              </a:rPr>
              <a:t>各岛独立选折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FF47424-9897-424B-A3FE-F270CE2A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45780D4-3E7A-4904-BF51-C4B269E2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76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12F"/>
                </a:solidFill>
              </a:defRPr>
            </a:pPr>
            <a:r>
              <a:rPr sz="1200" b="0">
                <a:solidFill>
                  <a:srgbClr val="17212F"/>
                </a:solidFill>
              </a:rPr>
              <a:t>按官方岛人口加权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66ECDBB-E883-4E47-BB4C-9DF669B3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4659475-EB9B-45E8-ABB2-069AB690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5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12F"/>
                </a:solidFill>
              </a:defRPr>
            </a:pPr>
            <a:r>
              <a:rPr sz="1200" b="0">
                <a:solidFill>
                  <a:srgbClr val="17212F"/>
                </a:solidFill>
              </a:rPr>
              <a:t>固定种子复现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4DEEB4A-1D28-4AF8-8B62-8A6F7331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05350"/>
            <a:ext cx="1962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4E9"/>
          </a:solidFill>
          <a:ln xmlns:a="http://schemas.openxmlformats.org/drawingml/2006/main" w="14288">
            <a:solidFill>
              <a:srgbClr val="F26B38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F283E67-A36E-4A39-BE11-ACA484BA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482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6B38"/>
                </a:solidFill>
              </a:defRPr>
            </a:pPr>
            <a:r>
              <a:rPr sz="1350" b="1">
                <a:solidFill>
                  <a:srgbClr val="F26B38"/>
                </a:solidFill>
              </a:rPr>
              <a:t>验证目标：空间外推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9F67CB5-C610-421A-B88A-72362D50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878"/>
                </a:solidFill>
              </a:defRPr>
            </a:pPr>
            <a:r>
              <a:rPr sz="750" b="0">
                <a:solidFill>
                  <a:srgbClr val="5C6878"/>
                </a:solidFill>
              </a:rPr>
              <a:t>[源码] make_propagation_matched_splits.py / r2_pipeline.make_block_split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5BA254B-8FC6-4584-B067-1E53CB82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676D2"/>
                </a:solidFill>
              </a:defRPr>
            </a:pPr>
            <a:r>
              <a:rPr sz="750" b="1">
                <a:solidFill>
                  <a:srgbClr val="1676D2"/>
                </a:solidFill>
              </a:rPr>
              <a:t>ROUND2 / PHASE93   04</a:t>
            </a:r>
          </a:p>
        </p:txBody>
      </p:sp>
    </p:spTree>
    <p:extLst>
      <p:ext uri="{BB962C8B-B14F-4D97-AF65-F5344CB8AC3E}">
        <p14:creationId xmlns:p14="http://schemas.microsoft.com/office/powerpoint/2010/main" val="10452777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86064F7-67A8-4DC4-AC04-6ECD3F62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A8D8"/>
                </a:solidFill>
              </a:defRPr>
            </a:pPr>
            <a:r>
              <a:rPr sz="1350" b="1">
                <a:solidFill>
                  <a:srgbClr val="28A8D8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1960C-8549-47DF-BDD0-11954E89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F"/>
                </a:solidFill>
              </a:defRPr>
            </a:pPr>
            <a:r>
              <a:rPr sz="2700" b="1">
                <a:solidFill>
                  <a:srgbClr val="17212F"/>
                </a:solidFill>
              </a:rPr>
              <a:t>PAS、PDP 与 NMSE 从三个互补角度约束复信道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B07AE-119C-411F-BA32-DCE8E47F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0C3D1-A3B9-4709-BD17-CE688F28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878"/>
                </a:solidFill>
              </a:defRPr>
            </a:pPr>
            <a:r>
              <a:rPr sz="1350" b="0">
                <a:solidFill>
                  <a:srgbClr val="5C6878"/>
                </a:solidFill>
              </a:rPr>
              <a:t>两个功率谱决定结构，原始复信道误差约束幅度与相位不要偏离过远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03CCB-5720-4979-AF41-E40738D1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3909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2B873-9FB0-4641-BC6C-4335F646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240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A8D8"/>
                </a:solidFill>
              </a:defRPr>
            </a:pPr>
            <a:r>
              <a:rPr sz="1650" b="1">
                <a:solidFill>
                  <a:srgbClr val="28A8D8"/>
                </a:solidFill>
              </a:rPr>
              <a:t>PAS · 阵列角度功率谱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9505F-4C0F-4F54-A284-876E5053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能量从哪个方向到达？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847C7-ECE9-4014-9642-545A2022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04950"/>
            <a:ext cx="33909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F26B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B9EE1-2A2D-4547-A387-10AFD453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240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6B38"/>
                </a:solidFill>
              </a:defRPr>
            </a:pPr>
            <a:r>
              <a:rPr sz="1650" b="1">
                <a:solidFill>
                  <a:srgbClr val="F26B38"/>
                </a:solidFill>
              </a:rPr>
              <a:t>PDP · 频率/时延功率谱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52D7D-3BCD-4A95-99FD-571D3432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能量集中在哪些传播时延？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8D5DF-CB69-4EB3-99EF-879B0B11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04950"/>
            <a:ext cx="33909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02A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EEF97-B9C2-4E14-9244-7BE16716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240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NMSE · 原始复信道误差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4FBD0-5249-43C7-BCA7-D11D155C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预测复数元素与真值差多远？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88162-99EB-4E01-A9AB-8C2C04A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09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BE6"/>
          </a:solidFill>
          <a:ln xmlns:a="http://schemas.openxmlformats.org/drawingml/2006/main" w="0">
            <a:solidFill>
              <a:srgbClr val="79C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B07A8-E3F0-4A49-ABFA-47465B54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9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F9544-63D7-4219-B898-EFB52592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09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BE6"/>
          </a:solidFill>
          <a:ln xmlns:a="http://schemas.openxmlformats.org/drawingml/2006/main" w="0">
            <a:solidFill>
              <a:srgbClr val="79C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9F0B1-0847-4595-B095-D2F2E07D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09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96"/>
          </a:solidFill>
          <a:ln xmlns:a="http://schemas.openxmlformats.org/drawingml/2006/main" w="0">
            <a:solidFill>
              <a:srgbClr val="126B9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9EBF9-E2BB-4BED-BAF2-439C2F8D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09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33992-3E75-47A7-BFAC-8F56F051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609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8F435-01B5-4342-9209-28939BD1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09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AE934-A0DF-4D7F-B0D2-6721EDF9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609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E4DA8-B406-4817-B751-41E5BE78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09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BE6"/>
          </a:solidFill>
          <a:ln xmlns:a="http://schemas.openxmlformats.org/drawingml/2006/main" w="0">
            <a:solidFill>
              <a:srgbClr val="79C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A184A-A5C6-435D-8A46-32A7604F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09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BA4A70-3248-445E-8BDB-D3B12EDB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09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0FE6C6-A531-4288-95D8-4FC56533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09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D8"/>
          </a:solidFill>
          <a:ln xmlns:a="http://schemas.openxmlformats.org/drawingml/2006/main" w="0">
            <a:solidFill>
              <a:srgbClr val="2AA8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A038EF-1096-4EA8-B12C-FEB9022F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00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06515F-571B-45A5-B16B-7BE084A8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00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BE6"/>
          </a:solidFill>
          <a:ln xmlns:a="http://schemas.openxmlformats.org/drawingml/2006/main" w="0">
            <a:solidFill>
              <a:srgbClr val="79CB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1F279E-4F44-41C5-9BA6-30FD60B1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00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6D925C-5621-4E10-8E15-8A0AC530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00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D8"/>
          </a:solidFill>
          <a:ln xmlns:a="http://schemas.openxmlformats.org/drawingml/2006/main" w="0">
            <a:solidFill>
              <a:srgbClr val="2AA8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B56302-2667-492B-A2C8-671D0A9E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00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C2EEFB-3F60-4ECF-8181-D09CD866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00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6038B8-EDAD-4195-8D85-94DE021E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00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0CA2F5-2C33-4BB0-8B5E-29230B1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800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96"/>
          </a:solidFill>
          <a:ln xmlns:a="http://schemas.openxmlformats.org/drawingml/2006/main" w="0">
            <a:solidFill>
              <a:srgbClr val="126B9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F81883-0738-41DC-8A2F-9C02CE16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00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BE6"/>
          </a:solidFill>
          <a:ln xmlns:a="http://schemas.openxmlformats.org/drawingml/2006/main" w="0">
            <a:solidFill>
              <a:srgbClr val="79C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68B781-1F8A-4148-8B9C-CC4464C2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800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96"/>
          </a:solidFill>
          <a:ln xmlns:a="http://schemas.openxmlformats.org/drawingml/2006/main" w="0">
            <a:solidFill>
              <a:srgbClr val="126B9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F401A1-5AA0-40F9-B782-69F1B876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00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76BF6D-7FBD-4A9E-B697-325D7A95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00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FF0A50-AC77-4D2B-B62A-03F41FD2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90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D8"/>
          </a:solidFill>
          <a:ln xmlns:a="http://schemas.openxmlformats.org/drawingml/2006/main" w="0">
            <a:solidFill>
              <a:srgbClr val="2AA8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88A7F9-F4FC-444D-901B-B2779972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90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36212B-61A5-463F-9C1F-1C8AF473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96"/>
          </a:solidFill>
          <a:ln xmlns:a="http://schemas.openxmlformats.org/drawingml/2006/main" w="0">
            <a:solidFill>
              <a:srgbClr val="126B9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B67E0D-7E60-41F8-84E1-95081F0B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990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96"/>
          </a:solidFill>
          <a:ln xmlns:a="http://schemas.openxmlformats.org/drawingml/2006/main" w="0">
            <a:solidFill>
              <a:srgbClr val="126B9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B8BD62-DE3D-4956-AA96-4480A910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990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D8"/>
          </a:solidFill>
          <a:ln xmlns:a="http://schemas.openxmlformats.org/drawingml/2006/main" w="0">
            <a:solidFill>
              <a:srgbClr val="2AA8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B2B31A-8DD2-4D6C-A366-9C84CF69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990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D8"/>
          </a:solidFill>
          <a:ln xmlns:a="http://schemas.openxmlformats.org/drawingml/2006/main" w="0">
            <a:solidFill>
              <a:srgbClr val="2AA8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771753-E271-4D3E-9684-8E1C9430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90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2D806B-9C52-460A-92BD-A0A705B0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90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69C50D-5279-40DD-8445-7BD8FB9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990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05338A-6CB4-4051-8AF0-E72315F4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90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2EB892-6A5E-43B3-99F7-1A981D2D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90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96"/>
          </a:solidFill>
          <a:ln xmlns:a="http://schemas.openxmlformats.org/drawingml/2006/main" w="0">
            <a:solidFill>
              <a:srgbClr val="126B9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90DE04-693F-433E-8021-0E9242C0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90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96"/>
          </a:solidFill>
          <a:ln xmlns:a="http://schemas.openxmlformats.org/drawingml/2006/main" w="0">
            <a:solidFill>
              <a:srgbClr val="126B9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DBDBD0-031D-474B-9D3D-01FCCCBE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81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BE6"/>
          </a:solidFill>
          <a:ln xmlns:a="http://schemas.openxmlformats.org/drawingml/2006/main" w="0">
            <a:solidFill>
              <a:srgbClr val="79CBE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A5F9F8-9C9D-4A07-8645-A756F096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81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BE6"/>
          </a:solidFill>
          <a:ln xmlns:a="http://schemas.openxmlformats.org/drawingml/2006/main" w="0">
            <a:solidFill>
              <a:srgbClr val="79CBE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7F8687-F44F-4C37-B6D4-F446640B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81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0344A1-0323-4A33-8FEF-9CFE42C4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81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A54697-4F95-47C7-8B68-FD439CE3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181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BE6"/>
          </a:solidFill>
          <a:ln xmlns:a="http://schemas.openxmlformats.org/drawingml/2006/main" w="0">
            <a:solidFill>
              <a:srgbClr val="79CBE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1D1AF6-EAB4-4FB7-A76C-19B8EF66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181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D8"/>
          </a:solidFill>
          <a:ln xmlns:a="http://schemas.openxmlformats.org/drawingml/2006/main" w="0">
            <a:solidFill>
              <a:srgbClr val="2AA8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9CB6C8-F552-4D00-8528-C3F41072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81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96"/>
          </a:solidFill>
          <a:ln xmlns:a="http://schemas.openxmlformats.org/drawingml/2006/main" w="0">
            <a:solidFill>
              <a:srgbClr val="126B9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C84A46-599A-4DF9-8C0E-43392B8E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181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BE6"/>
          </a:solidFill>
          <a:ln xmlns:a="http://schemas.openxmlformats.org/drawingml/2006/main" w="0">
            <a:solidFill>
              <a:srgbClr val="79CBE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3DB999-6B73-4E7C-9A44-6116B216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181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A1015E-7263-4D1B-A09A-B84219FB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181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BE6"/>
          </a:solidFill>
          <a:ln xmlns:a="http://schemas.openxmlformats.org/drawingml/2006/main" w="0">
            <a:solidFill>
              <a:srgbClr val="79CBE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8725B9-4DD4-40AE-8833-9D4B389F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81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BE6"/>
          </a:solidFill>
          <a:ln xmlns:a="http://schemas.openxmlformats.org/drawingml/2006/main" w="0">
            <a:solidFill>
              <a:srgbClr val="79CBE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10D3DC-705A-4CFE-88B9-8F66376D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813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D8"/>
          </a:solidFill>
          <a:ln xmlns:a="http://schemas.openxmlformats.org/drawingml/2006/main" w="0">
            <a:solidFill>
              <a:srgbClr val="2AA8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148A25-62A2-4DBE-8FD0-13BFCA2B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71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D8"/>
          </a:solidFill>
          <a:ln xmlns:a="http://schemas.openxmlformats.org/drawingml/2006/main" w="0">
            <a:solidFill>
              <a:srgbClr val="2AA8D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4892FE-F663-4B45-B4C1-9DCA87F4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71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96"/>
          </a:solidFill>
          <a:ln xmlns:a="http://schemas.openxmlformats.org/drawingml/2006/main" w="0">
            <a:solidFill>
              <a:srgbClr val="126B9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213419B-1F7A-4E92-A0C8-AF892AB0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371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0835BE-ED60-4D7C-8BDB-C8B356D6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371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546D12-6AB4-4333-9109-1AD59B26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371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D8"/>
          </a:solidFill>
          <a:ln xmlns:a="http://schemas.openxmlformats.org/drawingml/2006/main" w="0">
            <a:solidFill>
              <a:srgbClr val="2AA8D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3ABD60-BAED-4AA2-A772-4A47520F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371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D8"/>
          </a:solidFill>
          <a:ln xmlns:a="http://schemas.openxmlformats.org/drawingml/2006/main" w="0">
            <a:solidFill>
              <a:srgbClr val="2AA8D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BEDD689-CB4C-403E-825A-ADD51DE6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71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240804-DE2E-4BFA-9FCF-8F9954D2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371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C949CE7-0FDA-4497-ABC1-21C05C29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71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96"/>
          </a:solidFill>
          <a:ln xmlns:a="http://schemas.openxmlformats.org/drawingml/2006/main" w="0">
            <a:solidFill>
              <a:srgbClr val="126B9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4BCF304-452A-431D-9157-7F2090EF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371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F4"/>
          </a:solidFill>
          <a:ln xmlns:a="http://schemas.openxmlformats.org/drawingml/2006/main" w="0">
            <a:solidFill>
              <a:srgbClr val="BFE7F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A4F8FD7-4F82-4C5C-88E0-5824244B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71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D8"/>
          </a:solidFill>
          <a:ln xmlns:a="http://schemas.openxmlformats.org/drawingml/2006/main" w="0">
            <a:solidFill>
              <a:srgbClr val="2AA8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57429A7-D492-46C5-B5FE-CC53E0B1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1850"/>
            <a:ext cx="200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BE6"/>
          </a:solidFill>
          <a:ln xmlns:a="http://schemas.openxmlformats.org/drawingml/2006/main" w="0">
            <a:solidFill>
              <a:srgbClr val="79CBE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251FFC-2217-489D-85B1-FDA8813C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C"/>
                </a:solidFill>
              </a:defRPr>
            </a:pPr>
            <a:r>
              <a:rPr sz="1350" b="1">
                <a:solidFill>
                  <a:srgbClr val="102A4C"/>
                </a:solidFill>
              </a:rPr>
              <a:t>16H × 8V 阵列 FFT²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1D1678D-76C7-4FB3-91DE-FF950558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A8D8"/>
                </a:solidFill>
              </a:defRPr>
            </a:pPr>
            <a:r>
              <a:rPr sz="1275" b="1">
                <a:solidFill>
                  <a:srgbClr val="28A8D8"/>
                </a:solidFill>
              </a:rPr>
              <a:t>余弦相似度 → 1 越好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50324C0-598D-4C2F-A22B-2AEF927D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1804"/>
            <a:ext cx="104775" cy="821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9F"/>
          </a:solidFill>
          <a:ln xmlns:a="http://schemas.openxmlformats.org/drawingml/2006/main" w="0">
            <a:solidFill>
              <a:srgbClr val="F6C29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FEB0086-4A41-4CDD-A22E-796E5CBA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27901"/>
            <a:ext cx="104775" cy="7153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9F"/>
          </a:solidFill>
          <a:ln xmlns:a="http://schemas.openxmlformats.org/drawingml/2006/main" w="0">
            <a:solidFill>
              <a:srgbClr val="F6C29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F6D182D-6C78-4868-B8E7-705A7102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348003"/>
            <a:ext cx="104775" cy="1952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9F"/>
          </a:solidFill>
          <a:ln xmlns:a="http://schemas.openxmlformats.org/drawingml/2006/main" w="0">
            <a:solidFill>
              <a:srgbClr val="F6C29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4C3A343-071B-41E7-87B9-C3F817E0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56724"/>
            <a:ext cx="104775" cy="18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9F"/>
          </a:solidFill>
          <a:ln xmlns:a="http://schemas.openxmlformats.org/drawingml/2006/main" w="0">
            <a:solidFill>
              <a:srgbClr val="F6C29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EAA45AA-90F8-44ED-AAB6-FF097E02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23419"/>
            <a:ext cx="104775" cy="719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BD0220B-77B2-4147-B21F-022FCD68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314635"/>
            <a:ext cx="104775" cy="2286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9F"/>
          </a:solidFill>
          <a:ln xmlns:a="http://schemas.openxmlformats.org/drawingml/2006/main" w="0">
            <a:solidFill>
              <a:srgbClr val="F6C29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9F5898C-74E8-4931-97E3-55E45E67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98636"/>
            <a:ext cx="104775" cy="3446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9F"/>
          </a:solidFill>
          <a:ln xmlns:a="http://schemas.openxmlformats.org/drawingml/2006/main" w="0">
            <a:solidFill>
              <a:srgbClr val="F6C29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B8107BF-740B-4ED5-8D06-635E152C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276694"/>
            <a:ext cx="104775" cy="266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9F"/>
          </a:solidFill>
          <a:ln xmlns:a="http://schemas.openxmlformats.org/drawingml/2006/main" w="0">
            <a:solidFill>
              <a:srgbClr val="F6C29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96AFA1A-715E-4195-A4BB-922F741A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25326"/>
            <a:ext cx="104775" cy="6179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9F"/>
          </a:solidFill>
          <a:ln xmlns:a="http://schemas.openxmlformats.org/drawingml/2006/main" w="0">
            <a:solidFill>
              <a:srgbClr val="F6C29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3FA4776-0AAB-4F0A-A6CC-06DF534D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93771"/>
            <a:ext cx="104775" cy="449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9F"/>
          </a:solidFill>
          <a:ln xmlns:a="http://schemas.openxmlformats.org/drawingml/2006/main" w="0">
            <a:solidFill>
              <a:srgbClr val="F6C29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C246098-83A0-467A-9B6B-861D29E5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79101"/>
            <a:ext cx="104775" cy="6641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7D88B53-3597-4DC5-BA52-8B526EDC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8945"/>
            <a:ext cx="104775" cy="73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9F"/>
          </a:solidFill>
          <a:ln xmlns:a="http://schemas.openxmlformats.org/drawingml/2006/main" w="0">
            <a:solidFill>
              <a:srgbClr val="F6C29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A3830B9-2051-4841-A3E3-4896432B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06429"/>
            <a:ext cx="104775" cy="6368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9F"/>
          </a:solidFill>
          <a:ln xmlns:a="http://schemas.openxmlformats.org/drawingml/2006/main" w="0">
            <a:solidFill>
              <a:srgbClr val="F6C29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8C1D97D-9B07-457B-9A0D-AF007628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85980"/>
            <a:ext cx="104775" cy="75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9F"/>
          </a:solidFill>
          <a:ln xmlns:a="http://schemas.openxmlformats.org/drawingml/2006/main" w="0">
            <a:solidFill>
              <a:srgbClr val="F6C29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93A2C30-EFA6-40A2-8E86-44344C92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44047"/>
            <a:ext cx="104775" cy="4992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9F"/>
          </a:solidFill>
          <a:ln xmlns:a="http://schemas.openxmlformats.org/drawingml/2006/main" w="0">
            <a:solidFill>
              <a:srgbClr val="F6C29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A13D332-7FC7-487A-8E88-BEC4D315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623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523A696-59D7-4215-B234-51954B58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05225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C"/>
                </a:solidFill>
              </a:defRPr>
            </a:pPr>
            <a:r>
              <a:rPr sz="1350" b="1">
                <a:solidFill>
                  <a:srgbClr val="102A4C"/>
                </a:solidFill>
              </a:rPr>
              <a:t>192 子载波 FFT → delay bins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B999BAA-ABF6-47EC-9714-D785293D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24325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6B38"/>
                </a:solidFill>
              </a:defRPr>
            </a:pPr>
            <a:r>
              <a:rPr sz="1275" b="1">
                <a:solidFill>
                  <a:srgbClr val="F26B38"/>
                </a:solidFill>
              </a:rPr>
              <a:t>余弦相似度 → 1 越好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3F59188-8350-44DE-BB46-2DAE2A34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19050">
            <a:solidFill>
              <a:srgbClr val="B8D4EA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6BA0E29-C470-4BE3-A524-56287741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81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71764BC-B94C-4CD2-8E68-E2572AAE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24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B530F04-C490-430F-AF79-372E916B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051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6B38"/>
                </a:solidFill>
              </a:defRPr>
            </a:pPr>
            <a:r>
              <a:rPr sz="2550" b="1">
                <a:solidFill>
                  <a:srgbClr val="F26B38"/>
                </a:solidFill>
              </a:rPr>
              <a:t>↘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44C405E-1DA5-4B73-BB25-A3621BA8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4335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6D2"/>
                </a:solidFill>
              </a:defRPr>
            </a:pPr>
            <a:r>
              <a:rPr sz="1200" b="1">
                <a:solidFill>
                  <a:srgbClr val="1676D2"/>
                </a:solidFill>
              </a:rPr>
              <a:t>H_true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FA88671-D986-44DC-8160-24FC7EA1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4335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4A4A"/>
                </a:solidFill>
              </a:defRPr>
            </a:pPr>
            <a:r>
              <a:rPr sz="1200" b="1">
                <a:solidFill>
                  <a:srgbClr val="D94A4A"/>
                </a:solidFill>
              </a:rPr>
              <a:t>H_pred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4C982C-3F1B-4C08-8E73-D46C892A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76725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C"/>
                </a:solidFill>
              </a:defRPr>
            </a:pPr>
            <a:r>
              <a:rPr sz="1275" b="1">
                <a:solidFill>
                  <a:srgbClr val="102A4C"/>
                </a:solidFill>
              </a:rPr>
              <a:t>NMSE → 0 越好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D534775-E87A-4F42-A2DD-68780E78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744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9FFC44C-C924-4C5C-90D4-ABBC0FCC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959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score = 0.4 C_pas + 0.4 C_pdp + 0.2 / (1 + NMSE)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50DE32B-40E1-4154-B420-A9DE46ED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76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A8D8"/>
                </a:solidFill>
              </a:defRPr>
            </a:pPr>
            <a:r>
              <a:rPr sz="1575" b="1">
                <a:solidFill>
                  <a:srgbClr val="28A8D8"/>
                </a:solidFill>
              </a:rPr>
              <a:t>结构 80%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04FBA73-C2D2-47AF-99BA-5081F0D6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76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6B38"/>
                </a:solidFill>
              </a:defRPr>
            </a:pPr>
            <a:r>
              <a:rPr sz="1575" b="1">
                <a:solidFill>
                  <a:srgbClr val="F26B38"/>
                </a:solidFill>
              </a:rPr>
              <a:t>复数误差 20%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FA206F4-A898-43C1-8C7F-952D9830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878"/>
                </a:solidFill>
              </a:defRPr>
            </a:pPr>
            <a:r>
              <a:rPr sz="750" b="0">
                <a:solidFill>
                  <a:srgbClr val="5C6878"/>
                </a:solidFill>
              </a:rPr>
              <a:t>[源码] metrics.py-compatible formulation / r2_pipeline.py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8B95C52-99DB-4EBF-AE87-7A834636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676D2"/>
                </a:solidFill>
              </a:defRPr>
            </a:pPr>
            <a:r>
              <a:rPr sz="750" b="1">
                <a:solidFill>
                  <a:srgbClr val="1676D2"/>
                </a:solidFill>
              </a:rPr>
              <a:t>ROUND2 / PHASE93   05</a:t>
            </a:r>
          </a:p>
        </p:txBody>
      </p:sp>
    </p:spTree>
    <p:extLst>
      <p:ext uri="{BB962C8B-B14F-4D97-AF65-F5344CB8AC3E}">
        <p14:creationId xmlns:p14="http://schemas.microsoft.com/office/powerpoint/2010/main" val="838622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E54DDCB-119C-4B2F-A130-34599744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A8D8"/>
                </a:solidFill>
              </a:defRPr>
            </a:pPr>
            <a:r>
              <a:rPr sz="1350" b="1">
                <a:solidFill>
                  <a:srgbClr val="28A8D8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C7DA4-6FC4-4808-8E61-B2AEE3A8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F"/>
                </a:solidFill>
              </a:defRPr>
            </a:pPr>
            <a:r>
              <a:rPr sz="2700" b="1">
                <a:solidFill>
                  <a:srgbClr val="17212F"/>
                </a:solidFill>
              </a:rPr>
              <a:t>高维复信道先变成可学习的角度—时延监督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24354-C6A2-492E-9DF6-B0B2C899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B4320-C332-4698-B89F-0DB1C45C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878"/>
                </a:solidFill>
              </a:defRPr>
            </a:pPr>
            <a:r>
              <a:rPr sz="1350" b="0">
                <a:solidFill>
                  <a:srgbClr val="5C6878"/>
                </a:solidFill>
              </a:rPr>
              <a:t>Phase93 不直接回归 19.7 万维复数；它学习稳定的功率结构，再通过 IFFT 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CDF65-CB49-4B07-9A0C-B8DDDB0D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19050">
            <a:solidFill>
              <a:srgbClr val="102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EE831-8E90-4F96-826D-FFA24D63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原始 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ABC45-47EB-4C3F-AD67-B8460F21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6E8F5"/>
                </a:solidFill>
              </a:defRPr>
            </a:pPr>
            <a:r>
              <a:rPr sz="1125" b="0">
                <a:solidFill>
                  <a:srgbClr val="D6E8F5"/>
                </a:solidFill>
              </a:rPr>
              <a:t>256×4×192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607AF-0E32-4F57-BA20-0E3934CA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62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6B38"/>
                </a:solidFill>
              </a:defRPr>
            </a:pPr>
            <a:r>
              <a:rPr sz="225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39772-E94D-44F7-95E1-3581D304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2400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6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55214-E7C8-415E-8BC1-D4A45CF2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954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F"/>
                </a:solidFill>
              </a:defRPr>
            </a:pPr>
            <a:r>
              <a:rPr sz="1575" b="1">
                <a:solidFill>
                  <a:srgbClr val="17212F"/>
                </a:solidFill>
              </a:rPr>
              <a:t>阵列重排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1A533-D008-448D-8764-76352800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288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2pol×16H×8V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3C465-6C34-44B1-80FC-C1BE12DE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6B38"/>
                </a:solidFill>
              </a:defRPr>
            </a:pPr>
            <a:r>
              <a:rPr sz="225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5C69D-1E24-44B7-A5D0-2EA907C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2400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6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41383-6988-442E-BF54-B52EAB79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954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F"/>
                </a:solidFill>
              </a:defRPr>
            </a:pPr>
            <a:r>
              <a:rPr sz="1575" b="1">
                <a:solidFill>
                  <a:srgbClr val="17212F"/>
                </a:solidFill>
              </a:rPr>
              <a:t>BS-FFT²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F66A0-19DB-4168-A3F6-78DC8E37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288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PAS₁₉₂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9584D-EA3C-42D7-9354-132588CF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62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6B38"/>
                </a:solidFill>
              </a:defRPr>
            </a:pPr>
            <a:r>
              <a:rPr sz="225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9E81D-C1E4-4FDC-87B3-2FB91D53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2400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CA30D-E4F2-4E1E-8A7D-33B92A94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F"/>
                </a:solidFill>
              </a:defRPr>
            </a:pPr>
            <a:r>
              <a:rPr sz="1575" b="1">
                <a:solidFill>
                  <a:srgbClr val="17212F"/>
                </a:solidFill>
              </a:rPr>
              <a:t>频率 FFT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FD301-C0DB-41FE-8309-BB2C0BD4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288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PDP₁₉₂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DE90E-1227-4C86-9121-48A147C3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62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6B38"/>
                </a:solidFill>
              </a:defRPr>
            </a:pPr>
            <a:r>
              <a:rPr sz="225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C1EE6-B726-4800-B05A-9F9C7CD1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2400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6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1A76C-4854-4F79-B54A-4124405D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954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F"/>
                </a:solidFill>
              </a:defRPr>
            </a:pPr>
            <a:r>
              <a:rPr sz="1575" b="1">
                <a:solidFill>
                  <a:srgbClr val="17212F"/>
                </a:solidFill>
              </a:rPr>
              <a:t>24-band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FA3FB-111D-41C6-BD9C-A1134ADC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288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监督/回归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C249B-CE74-4614-95CE-B7A1A180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2578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82A913-7A5E-4672-844B-CC3FA09A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F"/>
                </a:solidFill>
              </a:defRPr>
            </a:pPr>
            <a:r>
              <a:rPr sz="1650" b="1">
                <a:solidFill>
                  <a:srgbClr val="17212F"/>
                </a:solidFill>
              </a:rPr>
              <a:t>A · 阵列角度域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57D383-93C7-40AD-A33C-01BC92F9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375572-3A52-4EAB-AB09-B51C7CF7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21AB6D-92A5-4136-B3D3-FBB1F1B6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727089-6EC7-4290-8922-A5856F8B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96EC01-3646-455F-A9DA-52280DD0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8B4D87-EB41-4C69-AB9D-9320958A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EEE3E3-9724-4665-ABFF-7E651574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013358-6B7F-4479-AA5F-1F95C866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20F5D7-FCED-4469-8AD4-17946AE5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64BDA-AE00-46BC-8D7F-EE43AC1C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E3AC79-4AA7-4328-A2D3-F0E76AC3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643808-E809-44DB-8CC3-B4CE8AB2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2CA98E-6FF6-4247-BB8E-3C3113CC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B49C5F-EDEB-4EDB-B826-5254D38F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F7EA59-8861-4D15-8613-44FBA293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4F4EE6-AD12-4597-989F-2286B25F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D8914E-B6FC-488E-946D-8FEBA078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36F4B1-D47B-4E81-801D-3994B67E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E18BFB-3A19-4F5B-8205-9C750A53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6FDA80-736B-4531-B575-CC2FCF82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5971EB-62F1-4FC0-97D9-17BC1CA8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5D9BF1-D201-45E2-B53F-0984E65F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A33F56-BAF9-4414-82F2-783F19B6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100C03-FBEA-4DDD-856C-5B840E9D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55E4DC-4BEB-4D89-BDC9-E1993CC0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2E75ED-2E28-4AE9-860B-C90C7CB9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2B63EC-3459-4C12-9838-8F51F426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2FDA32-ED51-42DF-BA14-888F57D3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CB9DC3-B177-4579-AA74-AF093110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F65C0D-A42E-4220-ADEF-230ACB7E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730220-7421-4C42-ADB8-0A3BA6C9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A2E6D4-EBB4-488E-B518-D8CDD507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45566B-BDCD-4183-98F2-2BAB7799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E8D875-4EC5-4074-9774-1793BBF9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EB1E64-F6AA-464F-BF07-3718964F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05D761-70FF-4EBA-B9DB-D4C19AD9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00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11E841-726C-44D4-ADB8-8112BC27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C7E632-9A9F-48D9-86B1-D8EF4CCE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82F81B-490B-4415-AEC3-AEF855B5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2081B8-C894-4CBF-B7DB-E2DC2D57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363985-3136-42D2-B5ED-8E0EEEDA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587D8A-00D2-40FB-83C0-609F721E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B3C10BE-6416-4CE9-95F9-4763061E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CA8930-ABA7-49F7-8F2F-AB82D67B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6134778-15B7-41AF-83CA-D642F93C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DE31732-59BB-479B-AC15-DA583A0F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4D54F1-26CA-4145-99A7-3C740D93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4C84AC5-CD12-484B-AD16-ACC98176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4711125-04DB-4C9C-AAFC-90E19B0F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B02684A-3C07-4A9E-A009-A536EE19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17C655C-E332-4065-A9A0-D217D2E9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B0A7433-07BC-4DEB-973C-59329B69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4943B1-3D89-4593-8647-C4AD55DA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78A7C6-A92F-400C-B03C-90C4B328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90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D586A81-4DDE-43A0-9273-863A479F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629EB65-59CC-4A50-8D20-3EA466AC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B51BC56-DC1E-44BD-81C1-50B403EC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9E970DD-3F22-44E9-85D2-4F542054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64711B6-B9B1-4B66-8323-C6C20D55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5C110E3-F549-481B-AF3A-951BED91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72EED91-4480-411A-B75E-6C8AEFC5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C112B99-8D22-407B-BADD-747B9A8B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83C5569-5DF0-4C31-BBA1-D9DC5CF8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7C7E64E-8DA2-44EA-8482-95852F44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F90C30-4D3C-4F1B-BA77-49DABE2F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F4BD18D-2DAA-4F6C-BDED-9A170A10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ADACEA5-7D53-40AB-8E85-7E9BCB45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EA5D03F-39F8-443E-AB56-0801682A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2959C1D-29F3-4BCA-A92D-845705D5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B58B94C-EFD5-437B-8917-FD856F39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7B489ED-B796-4CBD-B717-9E7CE55A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FC97D37-CC4E-4633-86CE-70C3AC4D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7201AC8-8DE6-434C-84FE-87E9ABE6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0C54D7D-AB02-435B-BDB4-7151FA14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11A7DB1-CCD6-4BF4-BF5B-262DD9EF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67147DB-073F-4147-9650-C1188696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537EDFA-C961-4CF0-B284-9A65EB3B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EB04A91-F381-4D8F-A9B7-1E0B04F9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14ABE85-FA3D-4B24-9369-BC65C875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1A9BDBA-0EA8-4860-BD20-C2E6FCC7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ED71F33-4A10-4876-9BEE-B5F740FA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546CCE2-1B22-4493-B119-68BAA40F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3EB41FF-A376-46CC-86A7-4746E064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7E64A81-A94C-4828-BE3B-70E47282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A98DE76-FB5D-4FCD-9B73-8397C4EB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9AE41A4-A32C-4727-BF84-6AD4FE87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AF911E4-8C89-4F96-838B-9166AEC0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3076DEC-6CA4-4A96-9746-AF8C7F36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9AD6789-BE3F-4C4F-960A-CC7E8C97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F54CB27-6CB5-443C-959C-D046C060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71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7B281CB-BFC6-492C-BDB8-7B7FCD8E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866E439-13D4-42CD-9EF0-BDDFF9A1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E634361-FCC5-4474-8D40-A4ADB986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9110F6D-4F3C-4ED5-A02E-43C464F2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0D4945E-9EE3-4FEC-8452-6F499BA7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727515-C7E7-404B-B37D-67900D83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3726A00-2050-498D-BDFB-6C5B142B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13DA873-B5FB-4008-92E6-7B02B207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2D95C54-C4B8-4B40-8987-125F47E9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2DBBFB1-E4DF-4822-89B4-3F18223A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6669C5F-D79E-4C6B-9D9D-35FFC072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A135A7A-96D1-486C-A40C-481C009A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F848367-D765-4A36-931E-062B08F3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5C54AE9-8DD0-42B3-B75A-DF1FF7D3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F2662D7-D34D-467A-81B2-8ECFB2C8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F322795-1F21-4025-839E-C5523F6C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8507575-6A67-4E1C-ACC3-03EF34A4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32E2B63-750F-4BFD-AE4A-DF3309C8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6ED8E28-247D-41C9-A58D-5327717A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8E0D005-629E-40DE-86F2-C20A8543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8CED2B0-B904-4E27-BE97-0AA62E2A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A6E8957-FCA1-4106-9D64-63D2EAE5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60CFD0D-9DD3-4DF2-93C5-76AA83AD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FBBDCF6-779A-4DDF-B720-9CD9E4D1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70BA17D-44EB-4699-908A-B33AD24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49407F3-3EF1-44A6-841C-2535A7A3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C94065E-B465-43C4-B9D3-31F7A1FF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6DE6243-F9D6-4CB9-87E0-17CB581B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5099FAD-3932-464A-8F76-6BDE67B0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523272B-C16C-45FC-90B7-3B2516DA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614301E-CF8B-4726-B337-F726A431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9210AB6-EF36-441E-AC6B-F78F8EA1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F542985-4D56-4ABA-A7AD-0D256473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B20DC08-479B-4618-999F-86BDD926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E0B127C-6DD5-437A-9ABD-D081502E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F1C63BA-57C0-4905-8228-59B22D3D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529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FEA537F-FF12-44CD-8A1F-1C2FB4B9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C9183B5-D490-4874-89E5-FD0179E3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6F5B0F4-E981-4D8D-982B-7D68A1B6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FE47EB8-44C0-41C8-B568-F7C83B47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FA9891B-4E82-430B-BDBF-3060CF4F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9275FB3-23C9-4270-A068-7ECC0368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6E01491-F422-4C14-A540-AA82A381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256DB80-1FD5-4AC4-BB53-477C97A5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F248613-E3CF-4217-B1D1-9CE8192E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05CB28D-6153-414C-A14F-9E6D98EF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ECAA1F2-1E24-4C71-99EE-B366CAD8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DE"/>
          </a:solidFill>
          <a:ln xmlns:a="http://schemas.openxmlformats.org/drawingml/2006/main" w="0">
            <a:solidFill>
              <a:srgbClr val="78C2DE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B7EF170-CA97-485D-9589-C6404862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3026279-A00C-41E0-9441-1A4A4881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1D658A3-AE16-479C-99C4-CBF72EEA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FF1DC0D-2316-4EF4-A5A3-A24D9CD4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B"/>
          </a:solidFill>
          <a:ln xmlns:a="http://schemas.openxmlformats.org/drawingml/2006/main" w="0">
            <a:solidFill>
              <a:srgbClr val="EDF8FB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43556F3-8D8A-4A3B-9A36-BCCA7726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F0"/>
          </a:solidFill>
          <a:ln xmlns:a="http://schemas.openxmlformats.org/drawingml/2006/main" w="0">
            <a:solidFill>
              <a:srgbClr val="BFE3F0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1734C81-8D6A-467E-AE9B-2D19F093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6C0"/>
          </a:solidFill>
          <a:ln xmlns:a="http://schemas.openxmlformats.org/drawingml/2006/main" w="0">
            <a:solidFill>
              <a:srgbClr val="2696C0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934BF5E-401E-4F6F-B1E0-4E130CDC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43450"/>
            <a:ext cx="2190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276"/>
          </a:solidFill>
          <a:ln xmlns:a="http://schemas.openxmlformats.org/drawingml/2006/main" w="0">
            <a:solidFill>
              <a:srgbClr val="0D5276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2D31065-0D1E-4644-A86E-C1BA9499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A8D8"/>
                </a:solidFill>
              </a:defRPr>
            </a:pPr>
            <a:r>
              <a:rPr sz="1275" b="1">
                <a:solidFill>
                  <a:srgbClr val="28A8D8"/>
                </a:solidFill>
              </a:rPr>
              <a:t>方向峰值被保留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CCF6FF1-A1A3-4DDB-BFB7-E6D4EF17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C"/>
                </a:solidFill>
              </a:defRPr>
            </a:pPr>
            <a:r>
              <a:rPr sz="1275" b="1">
                <a:solidFill>
                  <a:srgbClr val="102A4C"/>
                </a:solidFill>
              </a:rPr>
              <a:t>→ 192 角度 bin × 24 频带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1635CB2-A670-4F53-B96B-379E56B2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54864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F26B38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E7130F2-F7D9-4C96-9FDB-88EC2F7B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F"/>
                </a:solidFill>
              </a:defRPr>
            </a:pPr>
            <a:r>
              <a:rPr sz="1650" b="1">
                <a:solidFill>
                  <a:srgbClr val="17212F"/>
                </a:solidFill>
              </a:rPr>
              <a:t>B · 时延功率域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18883A3-4236-4E10-8949-46577717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48995"/>
            <a:ext cx="123825" cy="8944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08650CC2-A25E-43E4-BD91-74DD53EF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93534"/>
            <a:ext cx="123825" cy="3499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5FD39C5-37F2-4112-ABB6-1C7FB873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78565"/>
            <a:ext cx="123825" cy="8648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3371BD6-5794-4A7F-8C77-D56C967E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61762"/>
            <a:ext cx="123825" cy="681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CBC23C7-0AE8-470A-8CFC-CB67123C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72199"/>
            <a:ext cx="123825" cy="1712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DD52C80-E10E-4D6B-8E2A-91474D59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01203"/>
            <a:ext cx="123825" cy="1422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7AAE261-5498-4EB1-A82C-EF587518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80652"/>
            <a:ext cx="123825" cy="862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C0A8AEA-4BA8-4A18-9667-30565314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15230"/>
            <a:ext cx="123825" cy="228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D76E490-E6F3-43C9-8EF0-A04829EC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53404"/>
            <a:ext cx="123825" cy="8900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1EF5396-9E12-49B9-BBF4-4B627BA2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01516"/>
            <a:ext cx="123825" cy="1419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A07E607-6732-4E92-9176-5448D14D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61815"/>
            <a:ext cx="123825" cy="3816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6D6BF88-D130-4684-BF3C-E69213E0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86221"/>
            <a:ext cx="123825" cy="157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46B3026-3E94-4FD3-BD1B-9448027A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96622"/>
            <a:ext cx="123825" cy="9468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61662DE5-91CD-4D05-9D62-568C45CD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39070"/>
            <a:ext cx="123825" cy="40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20AC8A8-3B9A-42AA-A449-3A43288D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07912"/>
            <a:ext cx="123825" cy="635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C34ED7D-D521-4722-BC47-CA716138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39304"/>
            <a:ext cx="123825" cy="11041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E35048DA-F89E-4F8C-9787-EAA14A8F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31148"/>
            <a:ext cx="123825" cy="512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03B9BAA-1C0B-4BD1-B81C-565E2DE7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48380"/>
            <a:ext cx="123825" cy="195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8488F980-4C7E-4D8F-8837-4571764D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15242"/>
            <a:ext cx="123825" cy="728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89B125B-699C-4D43-89B3-27E1813F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85529"/>
            <a:ext cx="123825" cy="5579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DF0DFF2-C7D4-41B7-98D7-24A02E95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353271"/>
            <a:ext cx="123825" cy="3901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5E28200-D439-4335-BD05-2E5D982C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67924"/>
            <a:ext cx="123825" cy="9755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274F450-34D4-4697-9ABA-E586CBE2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704502"/>
            <a:ext cx="123825" cy="10389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ED00C8B-89A8-4C2A-B138-31881D50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934704"/>
            <a:ext cx="123825" cy="808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8D"/>
          </a:solidFill>
          <a:ln xmlns:a="http://schemas.openxmlformats.org/drawingml/2006/main" w="0">
            <a:solidFill>
              <a:srgbClr val="F4B68D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2211C5E-5D2E-4E43-A71E-3A16E8A8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468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88CE0A9-E999-4144-BBE7-717E0792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6B38"/>
                </a:solidFill>
              </a:defRPr>
            </a:pPr>
            <a:r>
              <a:rPr sz="1275" b="1">
                <a:solidFill>
                  <a:srgbClr val="F26B38"/>
                </a:solidFill>
              </a:rPr>
              <a:t>多径时延峰值被保留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A390824-565E-427F-8E7E-8DBCF384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482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C"/>
                </a:solidFill>
              </a:defRPr>
            </a:pPr>
            <a:r>
              <a:rPr sz="1275" b="1">
                <a:solidFill>
                  <a:srgbClr val="102A4C"/>
                </a:solidFill>
              </a:rPr>
              <a:t>→ 192 delay bin × 4 UE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39259FE-84A4-4137-B2F8-6983B3B5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878"/>
                </a:solidFill>
              </a:defRPr>
            </a:pPr>
            <a:r>
              <a:rPr sz="750" b="0">
                <a:solidFill>
                  <a:srgbClr val="5C6878"/>
                </a:solidFill>
              </a:rPr>
              <a:t>[源码] build_channel_descriptors.py / matched_phase5_tree_band_descriptor.py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DDC4BBF-14E5-4201-8884-CE4E6C59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676D2"/>
                </a:solidFill>
              </a:defRPr>
            </a:pPr>
            <a:r>
              <a:rPr sz="750" b="1">
                <a:solidFill>
                  <a:srgbClr val="1676D2"/>
                </a:solidFill>
              </a:rPr>
              <a:t>ROUND2 / PHASE93   06</a:t>
            </a:r>
          </a:p>
        </p:txBody>
      </p:sp>
    </p:spTree>
    <p:extLst>
      <p:ext uri="{BB962C8B-B14F-4D97-AF65-F5344CB8AC3E}">
        <p14:creationId xmlns:p14="http://schemas.microsoft.com/office/powerpoint/2010/main" val="11444560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E38C98F-F313-4DC5-9CCA-E026459C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A8D8"/>
                </a:solidFill>
              </a:defRPr>
            </a:pPr>
            <a:r>
              <a:rPr sz="1350" b="1">
                <a:solidFill>
                  <a:srgbClr val="28A8D8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219BF-EBB6-4FE8-92D7-7D8443CF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F"/>
                </a:solidFill>
              </a:defRPr>
            </a:pPr>
            <a:r>
              <a:rPr sz="2700" b="1">
                <a:solidFill>
                  <a:srgbClr val="17212F"/>
                </a:solidFill>
              </a:rPr>
              <a:t>分岛邻域负责“找谁像谁”，交替投影负责“怎样变成信道”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78A50-E4D8-44D6-B541-4A493398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3CE37-6104-4862-9D8C-3C75377B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878"/>
                </a:solidFill>
              </a:defRPr>
            </a:pPr>
            <a:r>
              <a:rPr sz="1350" b="0">
                <a:solidFill>
                  <a:srgbClr val="5C6878"/>
                </a:solidFill>
              </a:rPr>
              <a:t>同一矩形岛独立选 PAS/PDP 邻域，降低跨岛传播环境串扰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4A8BD-DABA-48C7-89C7-A087EC86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47675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C77DC-6D5F-4CF3-9865-32B520D5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76D2"/>
                </a:solidFill>
              </a:defRPr>
            </a:pPr>
            <a:r>
              <a:rPr sz="1800" b="1">
                <a:solidFill>
                  <a:srgbClr val="1676D2"/>
                </a:solidFill>
              </a:rPr>
              <a:t>① 空间局部邻域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386FF-97D0-4B2B-B1DE-90FBC7A3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39433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11430">
            <a:solidFill>
              <a:srgbClr val="B8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DA246-CFDB-491E-AC85-070A12E3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668" y="276378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772E7-C5B5-4558-9AFF-4B5FB589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562" y="431895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DE97A-35D3-4D8D-BE2F-AE062AC2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42" y="348617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7381C-A362-4842-9E43-5ADBAB8C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025" y="32143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52041-51D3-499D-B88E-BBED2B73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61" y="327851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DD3C6-EAB9-4E63-81DF-F5F65452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925" y="297518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1BEA2-5382-4FA4-B246-99BEF41F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983" y="264565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1567D-5DC3-497B-A7A8-772F3D0C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717" y="32280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9F1BB-AFC6-4D60-B4E4-995C7B93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684" y="425554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532BB-C881-4872-8763-15D403FB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97" y="389537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768E2-7C60-417A-B826-C91DEA23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728" y="350438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1EB96-3043-499D-A81A-35087134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81" y="310779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2493E-B087-45B4-BBC6-D66AB8EA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36" y="33060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57FF9-94E9-4D01-86F2-A747ED29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649" y="258185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660BD6-36B4-4263-8968-1A00012A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147" y="254315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A58C5-9DDD-4A9C-9155-A229A364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234" y="290087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A3FA8-27F4-4D8C-B73A-5387A6AC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61" y="391180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E46DD-526A-4016-8E9C-A6AB5B5F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604" y="431324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F307A-96A8-4BA0-A939-69F1765F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4" y="330306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55822E-7ECC-4F80-BBC8-322E28E1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0" y="360640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8D3B79-4DA9-4E97-BADF-6122D79E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410" y="405626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5A518F-A79A-475F-B83C-8A0447A1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360" y="397544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2891CE-E4DE-4F8E-A69D-E0256C82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275" y="410708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FDBD36-2B0B-4596-9D7A-18A6706F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227" y="334254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F2790B-D091-475E-87CD-A1CF73D5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626" y="305553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C35CBA-846C-446D-B767-82037304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812" y="257395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93126D-B670-4DFD-8734-EA84EA0B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750" y="419379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921552-6988-4B15-8362-F18930CB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577" y="37180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A9D818-1D20-4C15-BCF2-DCEC81BB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00" y="298904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DC034C-7EF3-4741-8376-05431BFE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56" y="317540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E8E3B4-EABA-4894-8CF0-251D3638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164" y="296413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01EF59-2CEF-466D-9B5C-CDBED4EB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923" y="271597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CF6CEF-6234-496D-AA23-69957BD0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66" y="43778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D31A33-A241-49A4-A4EB-1547FA52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046" y="439532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BDDD58-5125-4968-AE47-880AF4B3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00" y="2619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6F49EB-542D-4D3B-9F54-C4620B2D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99" y="35212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232340-D525-4384-8253-F7876F7A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90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9EC7A4-ECD1-4C14-9E06-234F6FC1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194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077233-04A3-457F-9BC9-0189BFB8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57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635CEB-F44B-46AC-A5E0-8CF92578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E120CB-452F-47F1-BF14-A2F99FD3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14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F68F0F-F621-4B00-BC98-E6110EC5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7837D7-8316-43C2-B257-5BBE22FD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48D02F-CA22-4C6D-B8CB-190595EC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00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A4C"/>
                </a:solidFill>
              </a:defRPr>
            </a:pPr>
            <a:r>
              <a:rPr sz="1050" b="1">
                <a:solidFill>
                  <a:srgbClr val="102A4C"/>
                </a:solidFill>
              </a:rPr>
              <a:t>Top-k ≤ 384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19F3B7-1642-429F-AD20-9547466C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3395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8C020E-BD7E-451A-B7AB-50AD572E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006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A4C"/>
                </a:solidFill>
              </a:defRPr>
            </a:pPr>
            <a:r>
              <a:rPr sz="1050" b="1">
                <a:solidFill>
                  <a:srgbClr val="102A4C"/>
                </a:solidFill>
              </a:rPr>
              <a:t>distanceᵖ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709A24-79E1-4C0E-AF6A-4F27A1C8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3395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A95FA9-415E-476E-AC6F-3FE0CAF9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0062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A4C"/>
                </a:solidFill>
              </a:defRPr>
            </a:pPr>
            <a:r>
              <a:rPr sz="1050" b="1">
                <a:solidFill>
                  <a:srgbClr val="102A4C"/>
                </a:solidFill>
              </a:rPr>
              <a:t>分岛参数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782410-BE05-448D-9B77-EAA19B73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C"/>
                </a:solidFill>
              </a:defRPr>
            </a:pPr>
            <a:r>
              <a:rPr sz="1500" b="1">
                <a:solidFill>
                  <a:srgbClr val="102A4C"/>
                </a:solidFill>
              </a:rPr>
              <a:t>wⱼ ∝ 1 / max(dⱼ, 0.25)ᵖ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311B2C-F2DD-440D-A9EF-D9F3EDB5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66850"/>
            <a:ext cx="626745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A80C36-8CF3-46A0-9FE5-6296036D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95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76D2"/>
                </a:solidFill>
              </a:defRPr>
            </a:pPr>
            <a:r>
              <a:rPr sz="1800" b="1">
                <a:solidFill>
                  <a:srgbClr val="1676D2"/>
                </a:solidFill>
              </a:rPr>
              <a:t>② PAS / PDP 交替投影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6C50CF-2BB6-40B1-A57A-4DE7000D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622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19050">
            <a:solidFill>
              <a:srgbClr val="B8D4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995026-123B-482E-B5A4-1CAEA09D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956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C"/>
                </a:solidFill>
              </a:defRPr>
            </a:pPr>
            <a:r>
              <a:rPr sz="1350" b="1">
                <a:solidFill>
                  <a:srgbClr val="102A4C"/>
                </a:solidFill>
              </a:rPr>
              <a:t>空间初值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2F7741A-D9F3-433D-8333-BB4B320D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19050">
            <a:solidFill>
              <a:srgbClr val="28A8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74E8A5-3A51-4CA0-9B1C-A97560DD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193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8A8D8"/>
                </a:solidFill>
              </a:defRPr>
            </a:pPr>
            <a:r>
              <a:rPr sz="1425" b="1">
                <a:solidFill>
                  <a:srgbClr val="28A8D8"/>
                </a:solidFill>
              </a:rPr>
              <a:t>BS-FFT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552E8D-8573-4F2B-B39B-B8B834ED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19050">
            <a:solidFill>
              <a:srgbClr val="F26B3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8F9354-3915-45E8-A6D8-3289EAB2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290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6B38"/>
                </a:solidFill>
              </a:defRPr>
            </a:pPr>
            <a:r>
              <a:rPr sz="1425" b="1">
                <a:solidFill>
                  <a:srgbClr val="F26B38"/>
                </a:solidFill>
              </a:rPr>
              <a:t>频率 FFT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61C1668-7A1E-48A4-AD88-34B33AE0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243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229B6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257A10-8B00-42C8-87C3-7ACD1FCC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767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9B68"/>
                </a:solidFill>
              </a:defRPr>
            </a:pPr>
            <a:r>
              <a:rPr sz="1425" b="1">
                <a:solidFill>
                  <a:srgbClr val="229B68"/>
                </a:solidFill>
              </a:rPr>
              <a:t>IFFT 回信道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AC20A16-CE58-4667-8108-A27A9151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527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A8D8"/>
                </a:solidFill>
              </a:defRPr>
            </a:pPr>
            <a:r>
              <a:rPr sz="2250" b="1">
                <a:solidFill>
                  <a:srgbClr val="28A8D8"/>
                </a:solidFill>
              </a:rPr>
              <a:t>→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B92BDE8-0B2E-44BA-BE59-DC70AB02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765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6B38"/>
                </a:solidFill>
              </a:defRPr>
            </a:pPr>
            <a:r>
              <a:rPr sz="225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D70E90-7F9E-4F14-8F7E-DB369B64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672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29B68"/>
                </a:solidFill>
              </a:defRPr>
            </a:pPr>
            <a:r>
              <a:rPr sz="2850" b="1">
                <a:solidFill>
                  <a:srgbClr val="229B68"/>
                </a:solidFill>
              </a:rPr>
              <a:t>↙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0063100-DED2-4A3F-B84B-49066B8D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624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6D2"/>
                </a:solidFill>
              </a:defRPr>
            </a:pPr>
            <a:r>
              <a:rPr sz="2850" b="1">
                <a:solidFill>
                  <a:srgbClr val="1676D2"/>
                </a:solidFill>
              </a:rPr>
              <a:t>↖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711471-93BD-431D-ACBE-85B887D0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9585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DDF284-BD1E-4722-A044-FD2840CE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673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12 次循环 · 能量定标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2EE836D-383A-462D-84D2-B2C739DB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878"/>
                </a:solidFill>
              </a:defRPr>
            </a:pPr>
            <a:r>
              <a:rPr sz="750" b="0">
                <a:solidFill>
                  <a:srgbClr val="5C6878"/>
                </a:solidFill>
              </a:rPr>
              <a:t>[源码] r2_pipeline.generate_submission / project_spectra_gpu_dual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51686AB-DDE7-43F5-8EFD-A01533B6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676D2"/>
                </a:solidFill>
              </a:defRPr>
            </a:pPr>
            <a:r>
              <a:rPr sz="750" b="1">
                <a:solidFill>
                  <a:srgbClr val="1676D2"/>
                </a:solidFill>
              </a:rPr>
              <a:t>ROUND2 / PHASE93   07</a:t>
            </a:r>
          </a:p>
        </p:txBody>
      </p:sp>
    </p:spTree>
    <p:extLst>
      <p:ext uri="{BB962C8B-B14F-4D97-AF65-F5344CB8AC3E}">
        <p14:creationId xmlns:p14="http://schemas.microsoft.com/office/powerpoint/2010/main" val="13534405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89411E-B577-4F19-AC2C-B8B21F48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A8D8"/>
                </a:solidFill>
              </a:defRPr>
            </a:pPr>
            <a:r>
              <a:rPr sz="1350" b="1">
                <a:solidFill>
                  <a:srgbClr val="28A8D8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3A2DC-71CA-44C5-ADD9-CEEED7FE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F"/>
                </a:solidFill>
              </a:defRPr>
            </a:pPr>
            <a:r>
              <a:rPr sz="2700" b="1">
                <a:solidFill>
                  <a:srgbClr val="17212F"/>
                </a:solidFill>
              </a:rPr>
              <a:t>Phase6 用物理对齐与树模型提升 24-band PAS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239EA-A0A6-4912-8AB5-0DCF3E1C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57C89-A299-4799-81A1-3262A1F8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878"/>
                </a:solidFill>
              </a:defRPr>
            </a:pPr>
            <a:r>
              <a:rPr sz="1350" b="0">
                <a:solidFill>
                  <a:srgbClr val="5C6878"/>
                </a:solidFill>
              </a:rPr>
              <a:t>这是 P9 与 Phase10 的共同底座：学习功率目标，而不是直接猜逐点相位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EAC64-6F50-4229-A71A-31E39703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674DD-1A45-4AA1-9124-E406DD1B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857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AAAF3-59BC-4B9C-9620-A86259C3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9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E9F29-1C21-4C95-9959-208030CC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622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119C5-9AA5-4890-B244-70A99288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F"/>
                </a:solidFill>
              </a:defRPr>
            </a:pPr>
            <a:r>
              <a:rPr sz="1575" b="1">
                <a:solidFill>
                  <a:srgbClr val="17212F"/>
                </a:solidFill>
              </a:rPr>
              <a:t>方向标准化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9A843-5656-47F4-8560-4324E75E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水平周期 16</a:t>
            </a:r>
          </a:p>
          <a:p xmlns:a="http://schemas.openxmlformats.org/drawingml/2006/main">
            <a:pPr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垂直周期 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65A64-44B9-48CD-9E9B-6F0E21D6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9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1DC0B-0A7F-4DFE-A29F-5F054B69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622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CF05E-05C4-4790-B8E8-BD0C66E3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F"/>
                </a:solidFill>
              </a:defRPr>
            </a:pPr>
            <a:r>
              <a:rPr sz="1575" b="1">
                <a:solidFill>
                  <a:srgbClr val="17212F"/>
                </a:solidFill>
              </a:rPr>
              <a:t>sqrt(PAS)+PCA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E4D55-D053-44DF-8E8C-30D8D28B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433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rank = 160</a:t>
            </a:r>
          </a:p>
          <a:p xmlns:a="http://schemas.openxmlformats.org/drawingml/2006/main">
            <a:pPr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压缩结构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DB811-5917-4A9F-8019-830E6481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9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24F00-2563-4F01-B11F-6FD5BB8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83243-DEF3-48F8-9907-07578AB6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623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F"/>
                </a:solidFill>
              </a:defRPr>
            </a:pPr>
            <a:r>
              <a:rPr sz="1575" b="1">
                <a:solidFill>
                  <a:srgbClr val="17212F"/>
                </a:solidFill>
              </a:rPr>
              <a:t>ExtraTrees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04A20-B62F-400B-AD4D-457DE58C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约 420–500 棵</a:t>
            </a:r>
          </a:p>
          <a:p xmlns:a="http://schemas.openxmlformats.org/drawingml/2006/main">
            <a:pPr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位置+方向+LOS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7812C-4DB5-4667-B0B6-7268C907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9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978EB-698A-48C4-B32A-D4FCEF09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622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35E8B-EF6E-47C0-B55E-2A5C5D5C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623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F"/>
                </a:solidFill>
              </a:defRPr>
            </a:pPr>
            <a:r>
              <a:rPr sz="1575" b="1">
                <a:solidFill>
                  <a:srgbClr val="17212F"/>
                </a:solidFill>
              </a:rPr>
              <a:t>物理投影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E746A-3281-44E1-8B52-34708758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433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PAS scale 1.25</a:t>
            </a:r>
          </a:p>
          <a:p xmlns:a="http://schemas.openxmlformats.org/drawingml/2006/main">
            <a:pPr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PDP power 1.5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A19C2D-DD9B-42F3-89D4-6F62469C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0515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18725B-44AC-4847-A538-28A8E887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863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模型输出：可解释的 24-band PAS 目标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8B5C8-93A8-4304-8D5E-908ACDE3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38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6B38"/>
                </a:solidFill>
              </a:defRPr>
            </a:pPr>
            <a:r>
              <a:rPr sz="225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78C6B-7146-4FB1-B35B-42873260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86375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A8D8"/>
                </a:solidFill>
              </a:defRPr>
            </a:pPr>
            <a:r>
              <a:rPr sz="1650" b="1">
                <a:solidFill>
                  <a:srgbClr val="28A8D8"/>
                </a:solidFill>
              </a:rPr>
              <a:t>交替投影：保留 Phase6 PDP 并恢复 complex64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5CB0B8-E5CE-4BCF-AE40-69BD107D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878"/>
                </a:solidFill>
              </a:defRPr>
            </a:pPr>
            <a:r>
              <a:rPr sz="750" b="0">
                <a:solidFill>
                  <a:srgbClr val="5C6878"/>
                </a:solidFill>
              </a:rPr>
              <a:t>[源码] matched_phase6_pas_fitted_*.py / build_phase6_submission.py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F9AA4F-2EA3-46F2-8BE0-F2A557B8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676D2"/>
                </a:solidFill>
              </a:defRPr>
            </a:pPr>
            <a:r>
              <a:rPr sz="750" b="1">
                <a:solidFill>
                  <a:srgbClr val="1676D2"/>
                </a:solidFill>
              </a:rPr>
              <a:t>ROUND2 / PHASE93   08</a:t>
            </a:r>
          </a:p>
        </p:txBody>
      </p:sp>
    </p:spTree>
    <p:extLst>
      <p:ext uri="{BB962C8B-B14F-4D97-AF65-F5344CB8AC3E}">
        <p14:creationId xmlns:p14="http://schemas.microsoft.com/office/powerpoint/2010/main" val="19781884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CD0FDB7-CB4C-41A5-8897-E1C25D7E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A8D8"/>
                </a:solidFill>
              </a:defRPr>
            </a:pPr>
            <a:r>
              <a:rPr sz="1350" b="1">
                <a:solidFill>
                  <a:srgbClr val="28A8D8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DCBFD-9820-425A-B3C2-7F341D4C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F"/>
                </a:solidFill>
              </a:defRPr>
            </a:pPr>
            <a:r>
              <a:rPr sz="2700" b="1">
                <a:solidFill>
                  <a:srgbClr val="17212F"/>
                </a:solidFill>
              </a:rPr>
              <a:t>P9 用矩形内训练锚点纠正 Phase6 的系统残差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219F0-68A6-4A41-98EE-D6AA09FD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CFF17-AAFF-4896-8E30-D09D690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878"/>
                </a:solidFill>
              </a:defRPr>
            </a:pPr>
            <a:r>
              <a:rPr sz="1350" b="0">
                <a:solidFill>
                  <a:srgbClr val="5C6878"/>
                </a:solidFill>
              </a:rPr>
              <a:t>门控只在交叉验证证明有收益时注入局部修正，避免锚点噪声外溢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A16FA-EF72-444C-97FD-635B6705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39115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5D9E9-F17B-4E19-8A0F-2D7E742F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F"/>
                </a:solidFill>
              </a:defRPr>
            </a:pPr>
            <a:r>
              <a:rPr sz="1800" b="1">
                <a:solidFill>
                  <a:srgbClr val="17212F"/>
                </a:solidFill>
              </a:rPr>
              <a:t>锚点残差如何形成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E84C7-80A2-449E-8D58-27789A78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95725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94056-5462-4DAD-A279-43693BEB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636F4-75C1-4A1A-A516-02DFF7A2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3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5BF0D-879B-48E8-B956-AF1B6F11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81000"/>
            <a:ext cx="19050" cy="1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0">
            <a:solidFill>
              <a:srgbClr val="229B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69229-5583-4B7A-B641-2C66E550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7792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5D0C2-7A74-4080-99BE-88F8D089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03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B9284-A06D-4768-A88D-99A1FAA4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39251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28E5E-42D6-4F07-92A0-EF48C96F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2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69DFF-7E1C-4209-9753-50BADF6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3299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C5AE1-B105-4CED-B92C-2B2220AC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904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CF171-79C1-46E3-93F2-ACEFD2EC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7086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BB199-0269-4B63-BE8A-46973943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372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3AF6A-CBBD-4462-99FC-D9A148A9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84885"/>
            <a:ext cx="19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0">
            <a:solidFill>
              <a:srgbClr val="229B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3200C-B0F3-455C-9410-0288949B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968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E8ACE-62E4-44D3-8F3C-56460EE0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4321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F87E76-AE0B-482B-9AAE-C7BD57DD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0069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860C06-AED4-443D-A539-6038F841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8091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1BDB5-4CFB-4C0A-9EA0-124601DF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8938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3A945-9CE2-4309-96E5-66635068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215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643459-9B0A-4DD1-9FC1-15BBCC51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1597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A4602C-D92D-4ACD-8DF9-294741AA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4431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5326CB-9362-4294-B74E-B5FB74C6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63599"/>
            <a:ext cx="19050" cy="180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0">
            <a:solidFill>
              <a:srgbClr val="229B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A39F82-58EA-4AF3-9AEA-9034AB36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66542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8B1D29-7BF5-476E-981F-A4ACEB5B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3454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8D680B-77E3-4C6D-A311-680F06E8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450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310AEF-8919-48BE-9A97-3F811F03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9104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DD3738-7BD8-4650-BB27-D97A4B9C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7248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93259-B5BD-45EB-B81B-AE44D237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125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264D7-A711-466C-85B7-61EAE3AB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9417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A9E527-5C2D-4843-8E3F-D1818423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377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300E93-8910-414C-AE24-DD2A70CA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585357"/>
            <a:ext cx="19050" cy="108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0">
            <a:solidFill>
              <a:srgbClr val="229B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01001C-5E80-45F0-A583-CAE9E779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761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A553A9-1094-44A8-B6D4-B1363A8C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528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18F1B5-9D37-473C-AC98-7BD162B0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09502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B78307-1232-4B89-8A23-4E12660C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7391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34D0AF-8504-40A8-BFA7-8A4C97DA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4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0CC9A7-D4A9-4618-B7C3-C2339995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29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E53F02-BE8D-4115-9300-6CB86C96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2109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561432-2981-45FE-A9BC-940A906A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2296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948EBD-BFAF-4F2C-9AFB-2C9D9140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670587"/>
            <a:ext cx="19050" cy="505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0">
            <a:solidFill>
              <a:srgbClr val="229B6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9E2581-A7D6-4CB0-B817-4F90DCB5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911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53B01D-A15E-42C8-A294-258C3FE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2701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E6AAD8-1450-4D29-9D9F-FE6A5E97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878"/>
                </a:solidFill>
              </a:defRPr>
            </a:pPr>
            <a:r>
              <a:rPr sz="1200" b="1">
                <a:solidFill>
                  <a:srgbClr val="5C6878"/>
                </a:solidFill>
              </a:rPr>
              <a:t>灰：Phase6 预测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2F0104-FF84-435B-953D-11BFBF31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672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6B38"/>
                </a:solidFill>
              </a:defRPr>
            </a:pPr>
            <a:r>
              <a:rPr sz="1200" b="1">
                <a:solidFill>
                  <a:srgbClr val="F26B38"/>
                </a:solidFill>
              </a:rPr>
              <a:t>橙：训练锚点真值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FEBAEF-7C78-494A-A89D-D5C2B395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4838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B8D4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5D783A-C552-4B69-8712-F9ABC910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453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C"/>
                </a:solidFill>
              </a:defRPr>
            </a:pPr>
            <a:r>
              <a:rPr sz="1500" b="1">
                <a:solidFill>
                  <a:srgbClr val="102A4C"/>
                </a:solidFill>
              </a:rPr>
              <a:t>r = clip(log(P_truth / P_external), −2, 2)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98ADA4-5C66-4F4E-A989-D317C9AE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PAS 岛内最多 16 锚点 · PDP 最多 4 锚点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14F100-DCBC-44A5-9413-E8F7DC72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66850"/>
            <a:ext cx="535305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F26B3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6E5166-21CD-4E29-948F-38626222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F"/>
                </a:solidFill>
              </a:defRPr>
            </a:pPr>
            <a:r>
              <a:rPr sz="1800" b="1">
                <a:solidFill>
                  <a:srgbClr val="17212F"/>
                </a:solidFill>
              </a:rPr>
              <a:t>门控决定注入剂量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AA3587-8149-47AF-BDF4-4090127C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6878"/>
                </a:solidFill>
              </a:defRPr>
            </a:pPr>
            <a:r>
              <a:rPr sz="1350" b="1">
                <a:solidFill>
                  <a:srgbClr val="5C6878"/>
                </a:solidFill>
              </a:rPr>
              <a:t>alpha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38DD1C-87EA-403B-8D74-3D1BC0F7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4B1F38-DE0E-4EF4-B73E-9820407D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741061-021D-43BA-923A-EA066C52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8266B5-125E-4B7F-999B-01AE39C2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0.15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0E9729-C897-4FD4-8374-50FA53FF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3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8"/>
                </a:solidFill>
              </a:defRPr>
            </a:pPr>
            <a:r>
              <a:rPr sz="975" b="0">
                <a:solidFill>
                  <a:srgbClr val="5C6878"/>
                </a:solidFill>
              </a:rPr>
              <a:t>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924BB1-7BF1-444C-A3EA-FE5AAF49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3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8"/>
                </a:solidFill>
              </a:defRPr>
            </a:pPr>
            <a:r>
              <a:rPr sz="975" b="0">
                <a:solidFill>
                  <a:srgbClr val="5C6878"/>
                </a:solidFill>
              </a:rPr>
              <a:t>0.6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EE6897-6AB5-4BD1-97A4-695D08F8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D54599-BEB1-4649-9449-710791B9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F"/>
                </a:solidFill>
              </a:defRPr>
            </a:pPr>
            <a:r>
              <a:rPr sz="1350" b="0">
                <a:solidFill>
                  <a:srgbClr val="17212F"/>
                </a:solidFill>
              </a:rPr>
              <a:t>ExtraTrees 500 棵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DD371A-1A5B-4CDE-97A2-A6887434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70E135-5A2F-4CF5-81B4-5C837692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F"/>
                </a:solidFill>
              </a:defRPr>
            </a:pPr>
            <a:r>
              <a:rPr sz="1350" b="0">
                <a:solidFill>
                  <a:srgbClr val="17212F"/>
                </a:solidFill>
              </a:rPr>
              <a:t>min_samples_leaf = 80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0C8D02-B454-418C-9920-2B145F59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4A529E8-1A64-4B5D-B6D4-3D2F00D4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F"/>
                </a:solidFill>
              </a:defRPr>
            </a:pPr>
            <a:r>
              <a:rPr sz="1350" b="0">
                <a:solidFill>
                  <a:srgbClr val="17212F"/>
                </a:solidFill>
              </a:rPr>
              <a:t>max_features = 0.7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99F0BC2-51EB-4D3A-B222-E9F5E704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EE4896-AE7F-4A5A-B7E9-0FB4B1D8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F"/>
                </a:solidFill>
              </a:defRPr>
            </a:pPr>
            <a:r>
              <a:rPr sz="1350" b="0">
                <a:solidFill>
                  <a:srgbClr val="17212F"/>
                </a:solidFill>
              </a:rPr>
              <a:t>5 折收益网格选择 alpha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99F59A-3D1D-4515-AB3A-CA7069A5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53000"/>
            <a:ext cx="474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89F9089-AA99-4EAF-9EE2-1584AB93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2445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P9 = 12 次 PAS/PDP 联合投影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62BBDF3-DE83-411A-9E63-3CDB284E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878"/>
                </a:solidFill>
              </a:defRPr>
            </a:pPr>
            <a:r>
              <a:rPr sz="750" b="0">
                <a:solidFill>
                  <a:srgbClr val="5C6878"/>
                </a:solidFill>
              </a:rPr>
              <a:t>[源码] build_phase9_submission.py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AD1F67E-1B4A-4CFE-8FC1-552BD161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676D2"/>
                </a:solidFill>
              </a:defRPr>
            </a:pPr>
            <a:r>
              <a:rPr sz="750" b="1">
                <a:solidFill>
                  <a:srgbClr val="1676D2"/>
                </a:solidFill>
              </a:rPr>
              <a:t>ROUND2 / PHASE93   09</a:t>
            </a:r>
          </a:p>
        </p:txBody>
      </p:sp>
    </p:spTree>
    <p:extLst>
      <p:ext uri="{BB962C8B-B14F-4D97-AF65-F5344CB8AC3E}">
        <p14:creationId xmlns:p14="http://schemas.microsoft.com/office/powerpoint/2010/main" val="10646953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EFBD2D-B0B2-4511-852C-82536A10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A8D8"/>
                </a:solidFill>
              </a:defRPr>
            </a:pPr>
            <a:r>
              <a:rPr sz="1350" b="1">
                <a:solidFill>
                  <a:srgbClr val="28A8D8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DD43E-331E-4820-BE3E-69B0D9AD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F"/>
                </a:solidFill>
              </a:defRPr>
            </a:pPr>
            <a:r>
              <a:rPr sz="2700" b="1">
                <a:solidFill>
                  <a:srgbClr val="17212F"/>
                </a:solidFill>
              </a:rPr>
              <a:t>P10 构造参照方向，Phase40 沿反方向回调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B2CCF-EA30-4A30-B0D8-A633B035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306E8-AFE2-4895-9869-C18A8CD7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878"/>
                </a:solidFill>
              </a:defRPr>
            </a:pPr>
            <a:r>
              <a:rPr sz="1350" b="0">
                <a:solidFill>
                  <a:srgbClr val="5C6878"/>
                </a:solidFill>
              </a:rPr>
              <a:t>P10 不是最终答案；它是通过官方反馈冻结下来的 anti-P10 坐标轴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27189-4821-48E1-B6A0-75962431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054E2-F8AE-4016-9502-9D1DC512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F"/>
                </a:solidFill>
              </a:defRPr>
            </a:pPr>
            <a:r>
              <a:rPr sz="1650" b="1">
                <a:solidFill>
                  <a:srgbClr val="17212F"/>
                </a:solidFill>
              </a:rPr>
              <a:t>24-band PAS 方向空间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B3037-9E56-45A0-AE7A-EEA723A3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857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3E84D-4220-45CA-8981-9E7B3793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A7AFD-91E7-4603-AD10-627DAD3B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1614E-99CF-4E57-899F-86FD649A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84448-E28E-4C58-AAF7-6C9A9EF0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21229-CD88-4B9E-99CF-BD7938D1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6B38"/>
                </a:solidFill>
              </a:defRPr>
            </a:pPr>
            <a:r>
              <a:rPr sz="345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A9A41-A602-4B84-8317-9538178E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90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6B38"/>
                </a:solidFill>
              </a:defRPr>
            </a:pPr>
            <a:r>
              <a:rPr sz="1425" b="1">
                <a:solidFill>
                  <a:srgbClr val="F26B38"/>
                </a:solidFill>
              </a:rPr>
              <a:t>参照方向 d = log(P10 / P9)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68712-73A8-4AF6-BCEF-6EAB38F1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9B68"/>
                </a:solidFill>
              </a:defRPr>
            </a:pPr>
            <a:r>
              <a:rPr sz="1800" b="1">
                <a:solidFill>
                  <a:srgbClr val="229B68"/>
                </a:solidFill>
              </a:rPr>
              <a:t>anti-P10  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9A4A4-B9A3-43C9-A3DC-76A9CCBF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B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6666C-EF72-4943-BDF5-7B0A12C3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919DA-558C-4841-96C2-59B7896D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623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9B68"/>
                </a:solidFill>
              </a:defRPr>
            </a:pPr>
            <a:r>
              <a:rPr sz="1350" b="1">
                <a:solidFill>
                  <a:srgbClr val="229B68"/>
                </a:solidFill>
              </a:rPr>
              <a:t>eta = 0.50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6A40D-7ECC-465E-B25A-5100DD82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2578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E037A-7D75-4B19-9762-3C55EFE8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A8D8"/>
                </a:solidFill>
              </a:defRPr>
            </a:pPr>
            <a:r>
              <a:rPr sz="1650" b="1">
                <a:solidFill>
                  <a:srgbClr val="28A8D8"/>
                </a:solidFill>
              </a:rPr>
              <a:t>Phase10：冻结分组组合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0C127-54C5-4266-915C-5B40007C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828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0F3FE-D74E-41B4-85B6-05FB611C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2917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A4C"/>
                </a:solidFill>
              </a:defRPr>
            </a:pPr>
            <a:r>
              <a:rPr sz="1050" b="1">
                <a:solidFill>
                  <a:srgbClr val="102A4C"/>
                </a:solidFill>
              </a:rPr>
              <a:t>核心组 1/3/4/9/10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E5601-FB0F-41DE-A01D-0C94B961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62500"/>
            <a:ext cx="2343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441BE-3D98-4451-B0CB-4FB2E2E1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291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A4C"/>
                </a:solidFill>
              </a:defRPr>
            </a:pPr>
            <a:r>
              <a:rPr sz="1050" b="1">
                <a:solidFill>
                  <a:srgbClr val="102A4C"/>
                </a:solidFill>
              </a:rPr>
              <a:t>补集 graph/canonical/GP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2E1DD0-C7C0-461E-AAC0-9D29E58A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solidFill>
              <a:srgbClr val="FFF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BA0BC-908A-456C-BF86-7B62B44D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673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6B38"/>
                </a:solidFill>
              </a:defRPr>
            </a:pPr>
            <a:r>
              <a:rPr sz="1050" b="1">
                <a:solidFill>
                  <a:srgbClr val="F26B38"/>
                </a:solidFill>
              </a:rPr>
              <a:t>组 4/5/10 primary-anchor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B2C6A1-1F87-4335-B7F2-33D54E27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578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C6878"/>
                </a:solidFill>
              </a:defRPr>
            </a:pPr>
            <a:r>
              <a:rPr sz="1275" b="1">
                <a:solidFill>
                  <a:srgbClr val="5C6878"/>
                </a:solidFill>
              </a:rPr>
              <a:t>PDP 始终保持 Phase6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96BB0C-03E4-46DC-A2EA-1AD52A7D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38600"/>
            <a:ext cx="54483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F26B3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82DC15-F933-4A58-9261-A60C6E05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6B38"/>
                </a:solidFill>
              </a:defRPr>
            </a:pPr>
            <a:r>
              <a:rPr sz="1650" b="1">
                <a:solidFill>
                  <a:srgbClr val="F26B38"/>
                </a:solidFill>
              </a:rPr>
              <a:t>Phase40：在频谱域执行反向修正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237CB9-6694-4EAC-B0BF-902E26B7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0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PAS* = normalize(PAS × exp(−0.50d))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109EBB-25C6-4622-9303-FDEA2226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86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878"/>
                </a:solidFill>
              </a:defRPr>
            </a:pPr>
            <a:r>
              <a:rPr sz="1275" b="0">
                <a:solidFill>
                  <a:srgbClr val="5C6878"/>
                </a:solidFill>
              </a:rPr>
              <a:t>24-band 重复至 192 子载波 → BS-FFT 幅度修正 → IFFT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41BC40-CB02-4405-A589-33383B23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878"/>
                </a:solidFill>
              </a:defRPr>
            </a:pPr>
            <a:r>
              <a:rPr sz="750" b="0">
                <a:solidFill>
                  <a:srgbClr val="5C6878"/>
                </a:solidFill>
              </a:rPr>
              <a:t>[源码] phase10_pas_complement_anchor_confirmation.py / build_phase40_*.py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69350B-2101-4FEC-B4C6-BB59AD34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676D2"/>
                </a:solidFill>
              </a:defRPr>
            </a:pPr>
            <a:r>
              <a:rPr sz="750" b="1">
                <a:solidFill>
                  <a:srgbClr val="1676D2"/>
                </a:solidFill>
              </a:rPr>
              <a:t>ROUND2 / PHASE93   10</a:t>
            </a:r>
          </a:p>
        </p:txBody>
      </p:sp>
    </p:spTree>
    <p:extLst>
      <p:ext uri="{BB962C8B-B14F-4D97-AF65-F5344CB8AC3E}">
        <p14:creationId xmlns:p14="http://schemas.microsoft.com/office/powerpoint/2010/main" val="7184342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5121A6-1A5C-4313-8A4B-03E4BD57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A8D8"/>
                </a:solidFill>
              </a:defRPr>
            </a:pPr>
            <a:r>
              <a:rPr sz="1350" b="1">
                <a:solidFill>
                  <a:srgbClr val="28A8D8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19AD2-8DA7-412F-A3F1-D2982789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F"/>
                </a:solidFill>
              </a:defRPr>
            </a:pPr>
            <a:r>
              <a:rPr sz="2700" b="1">
                <a:solidFill>
                  <a:srgbClr val="17212F"/>
                </a:solidFill>
              </a:rPr>
              <a:t>Phase93 只在 g5 / g6 增加 full-192 局部证据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FD6B0-64BB-4CBB-A898-06E8F86D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E73E2-265A-46F7-A196-78E0DE3B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878"/>
                </a:solidFill>
              </a:defRPr>
            </a:pPr>
            <a:r>
              <a:rPr sz="1350" b="0">
                <a:solidFill>
                  <a:srgbClr val="5C6878"/>
                </a:solidFill>
              </a:rPr>
              <a:t>局部修正覆盖 89 行；其余 411 行与 Phase40 字节级保持一致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8ABC9-F7CC-4DB8-9078-B2DAE928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3875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8F399-5DD2-4FAA-9AF3-09538C5E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F"/>
                </a:solidFill>
              </a:defRPr>
            </a:pPr>
            <a:r>
              <a:rPr sz="1800" b="1">
                <a:solidFill>
                  <a:srgbClr val="17212F"/>
                </a:solidFill>
              </a:rPr>
              <a:t>测试岛作用范围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FB822-2B14-415D-8D5F-AED63F89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7053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11430">
            <a:solidFill>
              <a:srgbClr val="B8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1CD1A-7D61-4513-AFF6-C9869D91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590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9050">
            <a:solidFill>
              <a:srgbClr val="B8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B826B-B36C-4D96-AB02-AAC1D7BD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077" y="299034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F1F9A-7822-4DBA-83F2-797D5E76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430" y="31109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0DE0E-CA12-4DAA-8CD5-AE57A5A3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829" y="312903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76F3C-AF62-480B-AFFD-B9811FB5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571" y="310411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2C224-84E4-44DA-B4AB-CE1FEAD2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621" y="301633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2B3B4-B0CB-4AAB-8F90-C4F078C2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829" y="294184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553F3-C949-4488-A270-E6CE5DE5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242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4EA"/>
                </a:solidFill>
              </a:defRPr>
            </a:pPr>
            <a:r>
              <a:rPr sz="975" b="1">
                <a:solidFill>
                  <a:srgbClr val="B8D4EA"/>
                </a:solidFill>
              </a:rPr>
              <a:t>g1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AA05D-98AA-40DC-A2C3-656E6001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685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9050">
            <a:solidFill>
              <a:srgbClr val="B8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CF6C1-2AC8-4CD6-A679-31B4FEBA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918" y="262470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E24B11-FDE7-401F-B27E-7F531AA4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792" y="284956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87559-A280-4864-8609-0496DBB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670" y="279815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A7EE0-E492-47A0-ACC1-8E5D4F0D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885" y="268025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14693-0EE6-4A4B-90DB-D6675004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562" y="28940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9CF4E-9E24-48FB-B471-5F28685E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786" y="27736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287F0C-38F6-40D5-A86B-5FCCE1CD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1467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4EA"/>
                </a:solidFill>
              </a:defRPr>
            </a:pPr>
            <a:r>
              <a:rPr sz="975" b="1">
                <a:solidFill>
                  <a:srgbClr val="B8D4EA"/>
                </a:solidFill>
              </a:rPr>
              <a:t>g2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6ADC4-5BB0-43F9-ADB9-27851316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86100"/>
            <a:ext cx="742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9050">
            <a:solidFill>
              <a:srgbClr val="B8D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299735-7DB1-4740-BAB2-4824491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065" y="358160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FADBF-054C-40EC-8E09-188DCB7E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692" y="34797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8692B2-53B0-4686-9210-13095848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119" y="354915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2D6B5-CB77-4B20-A88A-B7E41FCD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73" y="351543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EDCE80-F31C-4B2B-B6E8-A6C1C97C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333" y="352419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2FC03D-A464-4CD4-AA89-17DB81C8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795" y="34871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C9F28D-A0A6-46E9-99E4-EB6724DF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4EA"/>
                </a:solidFill>
              </a:defRPr>
            </a:pPr>
            <a:r>
              <a:rPr sz="975" b="1">
                <a:solidFill>
                  <a:srgbClr val="B8D4EA"/>
                </a:solidFill>
              </a:rPr>
              <a:t>g3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544E89-C761-472F-9942-6FA046C7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647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9050">
            <a:solidFill>
              <a:srgbClr val="B8D4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8CF04D-0955-4750-842E-E97D478C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881" y="281877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F63D0-5426-481C-ACDE-56EA7CC0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670" y="270281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32C62E-91E5-4589-825B-A98E877F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854" y="279185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404457-023D-4B0C-9572-00EAAEAC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639" y="272952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A2336B-5985-44DD-85FA-44F46453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205" y="28190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74FFCC-F8A9-4779-A448-EACA3CC0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2" y="282192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7D9099-7546-44F1-AAD4-BF4C3DEF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765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4EA"/>
                </a:solidFill>
              </a:defRPr>
            </a:pPr>
            <a:r>
              <a:rPr sz="975" b="1">
                <a:solidFill>
                  <a:srgbClr val="B8D4EA"/>
                </a:solidFill>
              </a:rPr>
              <a:t>g4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14CB03-B7DA-4524-817E-4293F52C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10000"/>
            <a:ext cx="819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9050">
            <a:solidFill>
              <a:srgbClr val="F26B3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F4869D-4B09-415D-B511-76F35C25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684" y="405667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7872FD-7EC1-437B-92C8-F15F4F20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182" y="407292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65AECD-AC6D-40A4-BF1B-65ABD56B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310" y="402615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0553BA-AE2F-40D8-BF9C-3082A468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462" y="419509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932181-9567-4684-B8F1-0C436E71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073" y="418422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7F1A5F-4277-4673-A792-52F0A1DE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272" y="411257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88CD58-486A-4DB3-801A-A36295FF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6722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26B38"/>
                </a:solidFill>
              </a:defRPr>
            </a:pPr>
            <a:r>
              <a:rPr sz="975" b="1">
                <a:solidFill>
                  <a:srgbClr val="F26B38"/>
                </a:solidFill>
              </a:rPr>
              <a:t>g5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137532-5C41-464D-B1F8-57C7C967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57625"/>
            <a:ext cx="895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9050">
            <a:solidFill>
              <a:srgbClr val="F26B3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32EB14-7C71-4F8D-BC12-3DDB6204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245" y="40909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76BF03-F325-4CF5-A230-E22FB3C5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369" y="426407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8D52EB-6302-4F95-BE65-8CE595DE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271" y="431278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A1F9EC-CFC3-4580-9D50-21FE78FC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879" y="420399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A54730-AA82-41F2-AC2D-F51BDA33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662" y="425519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C3F9F7-A691-4463-A369-6F7F8D34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883" y="41108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65752E-E202-4BE6-AEAB-6C39FC8C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339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26B38"/>
                </a:solidFill>
              </a:defRPr>
            </a:pPr>
            <a:r>
              <a:rPr sz="975" b="1">
                <a:solidFill>
                  <a:srgbClr val="F26B38"/>
                </a:solidFill>
              </a:rPr>
              <a:t>g6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A9CE18-D5CC-408B-97BC-FE0E5DDC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26B38"/>
                </a:solidFill>
              </a:defRPr>
            </a:pPr>
            <a:r>
              <a:rPr sz="2400" b="1">
                <a:solidFill>
                  <a:srgbClr val="F26B38"/>
                </a:solidFill>
              </a:rPr>
              <a:t>89 / 500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21C7DB2-8585-48F8-B72D-2EEBE4CE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721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g5+g6 被修正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1C4ED1-096A-40E1-8D4C-A10E707A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53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6D2"/>
                </a:solidFill>
              </a:defRPr>
            </a:pPr>
            <a:r>
              <a:rPr sz="2400" b="1">
                <a:solidFill>
                  <a:srgbClr val="1676D2"/>
                </a:solidFill>
              </a:rPr>
              <a:t>411 / 500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63BA71-8D72-4DE4-B44B-6CFB67F6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721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保持 Phase40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DE8D96-7AF5-4D7A-9958-A5E85498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54864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F26B3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753BE45-6B74-4DB0-82B5-3BF5E87E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F"/>
                </a:solidFill>
              </a:defRPr>
            </a:pPr>
            <a:r>
              <a:rPr sz="1800" b="1">
                <a:solidFill>
                  <a:srgbClr val="17212F"/>
                </a:solidFill>
              </a:rPr>
              <a:t>full-192 anchor 融合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D497A7-4090-4BCF-B635-25C50C0D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468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B8D4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148DDAB-7213-438C-9509-EB9D8D34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6D2"/>
                </a:solidFill>
              </a:defRPr>
            </a:pPr>
            <a:r>
              <a:rPr sz="2250" b="1">
                <a:solidFill>
                  <a:srgbClr val="1676D2"/>
                </a:solidFill>
              </a:rPr>
              <a:t>80%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EB91BA-C1EF-4E26-ACE2-FAE87F3C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050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C"/>
                </a:solidFill>
              </a:defRPr>
            </a:pPr>
            <a:r>
              <a:rPr sz="1350" b="1">
                <a:solidFill>
                  <a:srgbClr val="102A4C"/>
                </a:solidFill>
              </a:rPr>
              <a:t>P9 逐角度 PAS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9492E3F-13A0-4418-8782-65D89CD1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193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6B38"/>
                </a:solidFill>
              </a:defRPr>
            </a:pPr>
            <a:r>
              <a:rPr sz="2250" b="1">
                <a:solidFill>
                  <a:srgbClr val="F26B38"/>
                </a:solidFill>
              </a:rPr>
              <a:t>+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897D4C-1EB2-4A3A-B8A3-BC6A10AC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288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6B38"/>
                </a:solidFill>
              </a:defRPr>
            </a:pPr>
            <a:r>
              <a:rPr sz="2250" b="1">
                <a:solidFill>
                  <a:srgbClr val="F26B38"/>
                </a:solidFill>
              </a:rPr>
              <a:t>20%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9A4217-C7AE-47ED-8447-E55E9BCD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050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C"/>
                </a:solidFill>
              </a:defRPr>
            </a:pPr>
            <a:r>
              <a:rPr sz="1275" b="1">
                <a:solidFill>
                  <a:srgbClr val="102A4C"/>
                </a:solidFill>
              </a:rPr>
              <a:t>锚点 PAS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F15CA1D-614F-446D-BB0B-86BC7C0D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DB04F52-4C53-444B-9D2F-D799DE63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766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F"/>
                </a:solidFill>
              </a:defRPr>
            </a:pPr>
            <a:r>
              <a:rPr sz="1350" b="0">
                <a:solidFill>
                  <a:srgbClr val="17212F"/>
                </a:solidFill>
              </a:rPr>
              <a:t>g5 训练锚点 22 个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0CEEF0-C6FB-4CBF-A459-44059D02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999E59-1D2C-4155-A244-E3124DA7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957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F"/>
                </a:solidFill>
              </a:defRPr>
            </a:pPr>
            <a:r>
              <a:rPr sz="1350" b="0">
                <a:solidFill>
                  <a:srgbClr val="17212F"/>
                </a:solidFill>
              </a:rPr>
              <a:t>g6 训练锚点 42 个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864DF0D-E5CD-4616-92EB-AE70EDB3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A07EBF-F586-488A-A546-777672CA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148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F"/>
                </a:solidFill>
              </a:defRPr>
            </a:pPr>
            <a:r>
              <a:rPr sz="1350" b="0">
                <a:solidFill>
                  <a:srgbClr val="17212F"/>
                </a:solidFill>
              </a:rPr>
              <a:t>4 邻居 · distance² · horizontal alignment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16FF4AA-F82C-4E52-AB57-CFE79BF8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8155010-A323-4A37-BC57-C3CB1AB7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339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F"/>
                </a:solidFill>
              </a:defRPr>
            </a:pPr>
            <a:r>
              <a:rPr sz="1350" b="0">
                <a:solidFill>
                  <a:srgbClr val="17212F"/>
                </a:solidFill>
              </a:rPr>
              <a:t>dose = 0.20 · iterations = 12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6FA6580-324C-4F56-842A-EF824FE5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4781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03734E2-DFF9-45A6-9093-68F2B109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34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再应用冻结的 anti-P10 方向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E0156F-AF27-49E0-A05B-4033DC36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878"/>
                </a:solidFill>
              </a:defRPr>
            </a:pPr>
            <a:r>
              <a:rPr sz="750" b="0">
                <a:solidFill>
                  <a:srgbClr val="5C6878"/>
                </a:solidFill>
              </a:rPr>
              <a:t>[源码] build_phase93_g56_antip10_plus_symmetric_clamp_submission.py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D870E67-B838-4ED3-8DEA-C653CAA2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676D2"/>
                </a:solidFill>
              </a:defRPr>
            </a:pPr>
            <a:r>
              <a:rPr sz="750" b="1">
                <a:solidFill>
                  <a:srgbClr val="1676D2"/>
                </a:solidFill>
              </a:rPr>
              <a:t>ROUND2 / PHASE93   11</a:t>
            </a:r>
          </a:p>
        </p:txBody>
      </p:sp>
    </p:spTree>
    <p:extLst>
      <p:ext uri="{BB962C8B-B14F-4D97-AF65-F5344CB8AC3E}">
        <p14:creationId xmlns:p14="http://schemas.microsoft.com/office/powerpoint/2010/main" val="1968361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4EFA52-0501-4722-A30E-EB25BE2C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A8D8"/>
                </a:solidFill>
              </a:defRPr>
            </a:pPr>
            <a:r>
              <a:rPr sz="1350" b="1">
                <a:solidFill>
                  <a:srgbClr val="28A8D8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BCCB5-8756-4214-B103-71D5B0F9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F"/>
                </a:solidFill>
              </a:defRPr>
            </a:pPr>
            <a:r>
              <a:rPr sz="2700" b="1">
                <a:solidFill>
                  <a:srgbClr val="17212F"/>
                </a:solidFill>
              </a:rPr>
              <a:t>严格端到端入口只需要四个原始文件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92D20-A7A1-45B0-A4C0-497E5EC3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A"/>
          </a:solidFill>
          <a:ln xmlns:a="http://schemas.openxmlformats.org/drawingml/2006/main" w="0">
            <a:solidFill>
              <a:srgbClr val="B8D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C6106-C3F9-4BF6-A0AA-8F6D8567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878"/>
                </a:solidFill>
              </a:defRPr>
            </a:pPr>
            <a:r>
              <a:rPr sz="1350" b="0">
                <a:solidFill>
                  <a:srgbClr val="5C6878"/>
                </a:solidFill>
              </a:rPr>
              <a:t>所有缓存、矩形折、模型目标与阶段输出都由 57 个命名阶段现场生成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4CDA9-5B82-4885-8D75-DC29008B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88F08-12C5-44EA-A2CC-9F001AEB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676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B982C-86C7-4B3A-8F5D-E3BA6F18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Train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6B253-57CB-4F92-8B6A-0E4C4161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7F1FA"/>
                </a:solidFill>
              </a:defRPr>
            </a:pPr>
            <a:r>
              <a:rPr sz="1050" b="0">
                <a:solidFill>
                  <a:srgbClr val="E7F1FA"/>
                </a:solidFill>
              </a:rPr>
              <a:t>4000×256×4×192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29DA9-401C-42E7-843F-C4BEF04F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47850"/>
            <a:ext cx="1676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676D2"/>
          </a:solidFill>
          <a:ln xmlns:a="http://schemas.openxmlformats.org/drawingml/2006/main" w="0">
            <a:solidFill>
              <a:srgbClr val="1676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50F76-DD0E-455F-A735-93906ECF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812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Train Pos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BB2F6-4373-4AFD-AE7F-272D65A8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9552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7F1FA"/>
                </a:solidFill>
              </a:defRPr>
            </a:pPr>
            <a:r>
              <a:rPr sz="1050" b="0">
                <a:solidFill>
                  <a:srgbClr val="E7F1FA"/>
                </a:solidFill>
              </a:rPr>
              <a:t>4000×3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40843-C6F9-4131-A29A-477A160A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47850"/>
            <a:ext cx="1676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8A8D8"/>
          </a:solidFill>
          <a:ln xmlns:a="http://schemas.openxmlformats.org/drawingml/2006/main" w="0">
            <a:solidFill>
              <a:srgbClr val="28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A9B25-E0C7-42E9-8FFD-0DA65047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812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Test Pos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54E51-2A02-43FD-AC1D-B0996239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9552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7F1FA"/>
                </a:solidFill>
              </a:defRPr>
            </a:pPr>
            <a:r>
              <a:rPr sz="1050" b="0">
                <a:solidFill>
                  <a:srgbClr val="E7F1FA"/>
                </a:solidFill>
              </a:rPr>
              <a:t>500×3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B6ED2-37BD-4729-94A9-EDEDA51D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47850"/>
            <a:ext cx="1676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29B68"/>
          </a:solidFill>
          <a:ln xmlns:a="http://schemas.openxmlformats.org/drawingml/2006/main" w="0">
            <a:solidFill>
              <a:srgbClr val="229B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0F43C-129E-4717-A272-B13FAFB1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Map.ply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62D2E-342E-499F-BFAF-10CE8067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9552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7F1FA"/>
                </a:solidFill>
              </a:defRPr>
            </a:pPr>
            <a:r>
              <a:rPr sz="1050" b="0">
                <a:solidFill>
                  <a:srgbClr val="E7F1FA"/>
                </a:solidFill>
              </a:rPr>
              <a:t>场景点云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8FE5A-6FA4-4B46-A4D5-EA6C3081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26B38"/>
                </a:solidFill>
              </a:defRPr>
            </a:pPr>
            <a:r>
              <a:rPr sz="270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9EBF1-C234-43AF-B7A8-0A095389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9050">
            <a:solidFill>
              <a:srgbClr val="F26B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7CDFE-596B-4317-9775-942A337D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71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B38"/>
                </a:solidFill>
              </a:defRPr>
            </a:pPr>
            <a:r>
              <a:rPr sz="1725" b="1">
                <a:solidFill>
                  <a:srgbClr val="F26B38"/>
                </a:solidFill>
              </a:rPr>
              <a:t>57-stage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7C2DA-1A52-4936-9767-D5DDBBFF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0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C"/>
                </a:solidFill>
              </a:defRPr>
            </a:pPr>
            <a:r>
              <a:rPr sz="1275" b="1">
                <a:solidFill>
                  <a:srgbClr val="102A4C"/>
                </a:solidFill>
              </a:rPr>
              <a:t>raw-to-final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A3524A-8E70-47E4-8D73-266BE314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89610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6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67252-370B-4867-8888-D71968E1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F"/>
                </a:solidFill>
              </a:defRPr>
            </a:pPr>
            <a:r>
              <a:rPr sz="1800" b="1">
                <a:solidFill>
                  <a:srgbClr val="17212F"/>
                </a:solidFill>
              </a:rPr>
              <a:t>一条命令完成重建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FA379-0F58-4756-9CE4-5BBCAF22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6400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0">
            <a:solidFill>
              <a:srgbClr val="102A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DB295-0A17-4E86-8B73-64CD391A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2925"/>
            <a:ext cx="601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python build_phase93_end_to_end.py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D6A68E-1B99-4C4B-B3E2-035F9BD8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AD2892-A960-484E-A453-0115CCD0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530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A4C"/>
                </a:solidFill>
              </a:defRPr>
            </a:pPr>
            <a:r>
              <a:rPr sz="1050" b="1">
                <a:solidFill>
                  <a:srgbClr val="102A4C"/>
                </a:solidFill>
              </a:rPr>
              <a:t>--list-stages 审计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F1AEA-43E7-4EF7-9A62-AFCFD3A1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863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785501-F030-489E-B3D0-8DD5CAF0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5302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A4C"/>
                </a:solidFill>
              </a:defRPr>
            </a:pPr>
            <a:r>
              <a:rPr sz="1050" b="1">
                <a:solidFill>
                  <a:srgbClr val="102A4C"/>
                </a:solidFill>
              </a:rPr>
              <a:t>--from-stage 恢复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12CCA-CB68-4E7D-B539-7F57C6EC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863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C008C-86BE-4BBC-A431-FB391C0B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5302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A4C"/>
                </a:solidFill>
              </a:defRPr>
            </a:pPr>
            <a:r>
              <a:rPr sz="1050" b="1">
                <a:solidFill>
                  <a:srgbClr val="102A4C"/>
                </a:solidFill>
              </a:rPr>
              <a:t>manifest 验收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6C1382-ED62-47B8-A87F-88529AA7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29000"/>
            <a:ext cx="38290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29B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14F5F9-33CB-4A7F-AE3B-3A82B229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76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9B68"/>
                </a:solidFill>
              </a:defRPr>
            </a:pPr>
            <a:r>
              <a:rPr sz="1800" b="1">
                <a:solidFill>
                  <a:srgbClr val="229B68"/>
                </a:solidFill>
              </a:rPr>
              <a:t>最终输出验收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0FDD8B-17EA-4101-969A-E96CC8B3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5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DA900A-B766-4EC1-BF25-1D7C4A02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F"/>
                </a:solidFill>
              </a:defRPr>
            </a:pPr>
            <a:r>
              <a:rPr sz="1350" b="0">
                <a:solidFill>
                  <a:srgbClr val="17212F"/>
                </a:solidFill>
              </a:rPr>
              <a:t>shape = 500×256×4×192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E401D0-C7E6-4A39-AC45-E5CE1956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57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2B7A80-F023-4012-A57A-8AA5214A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F"/>
                </a:solidFill>
              </a:defRPr>
            </a:pPr>
            <a:r>
              <a:rPr sz="1350" b="0">
                <a:solidFill>
                  <a:srgbClr val="17212F"/>
                </a:solidFill>
              </a:rPr>
              <a:t>dtype = complex64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A78949-F62E-4383-955E-F3858372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57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A182C8-69EC-4446-BE1F-D595DE8D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F"/>
                </a:solidFill>
              </a:defRPr>
            </a:pPr>
            <a:r>
              <a:rPr sz="1350" b="0">
                <a:solidFill>
                  <a:srgbClr val="17212F"/>
                </a:solidFill>
              </a:rPr>
              <a:t>finite = true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C8A0A8-83A6-4193-BD12-99E42718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solidFill>
              <a:srgbClr val="F26B3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3FD4C4-5D73-405A-938E-E72888AA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911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F"/>
                </a:solidFill>
              </a:defRPr>
            </a:pPr>
            <a:r>
              <a:rPr sz="1350" b="0">
                <a:solidFill>
                  <a:srgbClr val="17212F"/>
                </a:solidFill>
              </a:rPr>
              <a:t>every row nonzero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356152-2D8A-445E-BDBB-E94BEEC8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878"/>
                </a:solidFill>
              </a:defRPr>
            </a:pPr>
            <a:r>
              <a:rPr sz="750" b="0">
                <a:solidFill>
                  <a:srgbClr val="5C6878"/>
                </a:solidFill>
              </a:rPr>
              <a:t>[源码] build_phase93_end_to_end.py / build_phase93_from_raw.py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65CB4E-AB25-40E2-BF5F-1FFE61AB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676D2"/>
                </a:solidFill>
              </a:defRPr>
            </a:pPr>
            <a:r>
              <a:rPr sz="750" b="1">
                <a:solidFill>
                  <a:srgbClr val="1676D2"/>
                </a:solidFill>
              </a:rPr>
              <a:t>ROUND2 / PHASE93   12</a:t>
            </a:r>
          </a:p>
        </p:txBody>
      </p:sp>
    </p:spTree>
    <p:extLst>
      <p:ext uri="{BB962C8B-B14F-4D97-AF65-F5344CB8AC3E}">
        <p14:creationId xmlns:p14="http://schemas.microsoft.com/office/powerpoint/2010/main" val="20999865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A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391BA4-AB9A-471C-809A-D59E2991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A8D8"/>
                </a:solidFill>
              </a:defRPr>
            </a:pPr>
            <a:r>
              <a:rPr sz="1350" b="1">
                <a:solidFill>
                  <a:srgbClr val="28A8D8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4C3BE-0899-40D2-A4EF-88F1F68F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Phase93 的上限来自空间结构与频谱约束协同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A38EA-7A1A-4C5C-A509-C9448215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675"/>
          </a:solidFill>
          <a:ln xmlns:a="http://schemas.openxmlformats.org/drawingml/2006/main" w="0">
            <a:solidFill>
              <a:srgbClr val="36567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DB29B-E0D0-4620-82D0-19178E1F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7D8E8"/>
                </a:solidFill>
              </a:defRPr>
            </a:pPr>
            <a:r>
              <a:rPr sz="1425" b="0">
                <a:solidFill>
                  <a:srgbClr val="C7D8E8"/>
                </a:solidFill>
              </a:rPr>
              <a:t>不是单点回归，而是一条可解释、可审计、可端到端重建的物理学习链路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6EB5B-CD93-4B3C-B8F2-E02760FF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4EE99-C39E-4DC4-A397-B12A8A01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Raw 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E160D-5CC8-4B8C-B291-FEFF408B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097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6B38"/>
                </a:solidFill>
              </a:defRPr>
            </a:pPr>
            <a:r>
              <a:rPr sz="210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C9E97-39CD-476D-9B0C-82EC21FA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76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矩形 CV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2D613-18AE-4FBC-B72B-B685A336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97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6B38"/>
                </a:solidFill>
              </a:defRPr>
            </a:pPr>
            <a:r>
              <a:rPr sz="210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E933F-CF23-4472-B30E-3DA1F7A9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PAS / PDP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A031D-BA1F-43FC-B5CE-88C8E6F0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97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6B38"/>
                </a:solidFill>
              </a:defRPr>
            </a:pPr>
            <a:r>
              <a:rPr sz="210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A7EDF-9F5D-4AC4-A8C2-BE2E4FC8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76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Phase6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2A332-4118-4C1E-B9BA-CB7DC5F9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97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6B38"/>
                </a:solidFill>
              </a:defRPr>
            </a:pPr>
            <a:r>
              <a:rPr sz="210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4E57C-E710-475B-9E97-85AA3EAC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P9 / P10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D74A9-AAFC-499B-80F0-109F6CB4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97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6B38"/>
                </a:solidFill>
              </a:defRPr>
            </a:pPr>
            <a:r>
              <a:rPr sz="210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241E1-11E9-4E8A-9671-0F46B95B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anti-P10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A8452-B5AB-43C1-A5E4-B9866C4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097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6B38"/>
                </a:solidFill>
              </a:defRPr>
            </a:pPr>
            <a:r>
              <a:rPr sz="2100" b="1">
                <a:solidFill>
                  <a:srgbClr val="F26B3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42CDB-2F07-40E2-A12A-EC69D673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76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9B68"/>
                </a:solidFill>
              </a:defRPr>
            </a:pPr>
            <a:r>
              <a:rPr sz="1650" b="1">
                <a:solidFill>
                  <a:srgbClr val="229B68"/>
                </a:solidFill>
              </a:rPr>
              <a:t>g5 / g6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4DEBB-0E9E-4FC3-A349-1B5DA46B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3528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385D"/>
          </a:solidFill>
          <a:ln xmlns:a="http://schemas.openxmlformats.org/drawingml/2006/main" w="23813">
            <a:solidFill>
              <a:srgbClr val="28A8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C1038-BCEF-4D0C-A207-94B3791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8A8D8"/>
                </a:solidFill>
              </a:defRPr>
            </a:pPr>
            <a:r>
              <a:rPr sz="1725" b="1">
                <a:solidFill>
                  <a:srgbClr val="28A8D8"/>
                </a:solidFill>
              </a:rPr>
              <a:t>① 验证可信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E3061-3088-428A-8E62-000B630E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矩形空洞 OOF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对齐官方空间外推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2E4116-06CA-4265-A1A2-18E539B3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38500"/>
            <a:ext cx="33528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385D"/>
          </a:solidFill>
          <a:ln xmlns:a="http://schemas.openxmlformats.org/drawingml/2006/main" w="23813">
            <a:solidFill>
              <a:srgbClr val="F26B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3DA492-5FA5-41C9-9767-2363E481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7662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B38"/>
                </a:solidFill>
              </a:defRPr>
            </a:pPr>
            <a:r>
              <a:rPr sz="1725" b="1">
                <a:solidFill>
                  <a:srgbClr val="F26B38"/>
                </a:solidFill>
              </a:rPr>
              <a:t>② 结构优先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AB373-8164-449C-8EE0-9448F7C9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433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PAS/PDP 预测目标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投影恢复复数张量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E79D1-8B03-4C0F-8F03-11853F19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0"/>
            <a:ext cx="33528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385D"/>
          </a:solidFill>
          <a:ln xmlns:a="http://schemas.openxmlformats.org/drawingml/2006/main" w="23813">
            <a:solidFill>
              <a:srgbClr val="229B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6085D8-019B-424D-8C6E-2C19CD21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7662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29B68"/>
                </a:solidFill>
              </a:defRPr>
            </a:pPr>
            <a:r>
              <a:rPr sz="1725" b="1">
                <a:solidFill>
                  <a:srgbClr val="229B68"/>
                </a:solidFill>
              </a:rPr>
              <a:t>③ 复现闭环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3CD46D-844B-4CB5-A674-A91BB5F6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433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四个原始文件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57 阶段一键重建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6083CA-B988-4AA7-9252-4B422AA7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6B38"/>
                </a:solidFill>
              </a:defRPr>
            </a:pPr>
            <a:r>
              <a:rPr sz="1575" b="1">
                <a:solidFill>
                  <a:srgbClr val="F26B38"/>
                </a:solidFill>
              </a:rPr>
              <a:t>最终边界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E51883-F658-4273-8E61-46245916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19700"/>
            <a:ext cx="965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历史 Release 数组只用于结果审计；正式模型入口仅依赖四个赛事原始文件。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F1D00F-B610-4540-8A56-F127D263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8A8D8"/>
                </a:solidFill>
              </a:defRPr>
            </a:pPr>
            <a:r>
              <a:rPr sz="1725" b="1">
                <a:solidFill>
                  <a:srgbClr val="28A8D8"/>
                </a:solidFill>
              </a:rPr>
              <a:t>输出：500×256×4×192 · complex64 · finite · every row nonzero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509ACB-B362-4A00-8EC1-DA4BAC08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878"/>
                </a:solidFill>
              </a:defRPr>
            </a:pPr>
            <a:r>
              <a:rPr sz="750" b="0">
                <a:solidFill>
                  <a:srgbClr val="5C6878"/>
                </a:solidFill>
              </a:rPr>
              <a:t>[源码] Phase93 raw-to-final source tree and manifests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696784-84FF-47A1-B051-F64C6D71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676D2"/>
                </a:solidFill>
              </a:defRPr>
            </a:pPr>
            <a:r>
              <a:rPr sz="750" b="1">
                <a:solidFill>
                  <a:srgbClr val="1676D2"/>
                </a:solidFill>
              </a:rPr>
              <a:t>ROUND2 / PHASE93   13</a:t>
            </a:r>
          </a:p>
        </p:txBody>
      </p:sp>
    </p:spTree>
    <p:extLst>
      <p:ext uri="{BB962C8B-B14F-4D97-AF65-F5344CB8AC3E}">
        <p14:creationId xmlns:p14="http://schemas.microsoft.com/office/powerpoint/2010/main" val="44779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2026-08-26T05:02:47.5630000Z</dcterms:created>
  <dcterms:modified xsi:type="dcterms:W3CDTF">2026-08-26T05:02:47.5630000Z</dcterms:modified>
</coreProperties>
</file>