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8e8746cb8749b3" /><Relationship Type="http://schemas.openxmlformats.org/officeDocument/2006/relationships/extended-properties" Target="/docProps/app.xml" Id="Ra07055c98ddb463f" /><Relationship Type="http://schemas.openxmlformats.org/officeDocument/2006/relationships/officeDocument" Target="/ppt/presentation.xml" Id="R7bac2e3c1c5d4c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fd5442ecf94edf"/>
  </p:sldMasterIdLst>
  <p:notesMasterIdLst>
    <p:notesMasterId xmlns:r="http://schemas.openxmlformats.org/officeDocument/2006/relationships" r:id="R3f5a8ffa839045c5"/>
  </p:notesMasterIdLst>
  <p:sldIdLst>
    <p:sldId xmlns:r="http://schemas.openxmlformats.org/officeDocument/2006/relationships" id="256" r:id="R19eb2dfc80b44c3c"/>
    <p:sldId xmlns:r="http://schemas.openxmlformats.org/officeDocument/2006/relationships" id="257" r:id="R611d81e4b37946ad"/>
    <p:sldId xmlns:r="http://schemas.openxmlformats.org/officeDocument/2006/relationships" id="258" r:id="Rbb85ef5647b74452"/>
    <p:sldId xmlns:r="http://schemas.openxmlformats.org/officeDocument/2006/relationships" id="259" r:id="R906b69575b3b4e99"/>
    <p:sldId xmlns:r="http://schemas.openxmlformats.org/officeDocument/2006/relationships" id="260" r:id="R98e3744875a84829"/>
    <p:sldId xmlns:r="http://schemas.openxmlformats.org/officeDocument/2006/relationships" id="261" r:id="Ra64d5902ad354e0e"/>
    <p:sldId xmlns:r="http://schemas.openxmlformats.org/officeDocument/2006/relationships" id="262" r:id="R115bf61bdd7b4330"/>
    <p:sldId xmlns:r="http://schemas.openxmlformats.org/officeDocument/2006/relationships" id="263" r:id="R329c60f6c63c4870"/>
    <p:sldId xmlns:r="http://schemas.openxmlformats.org/officeDocument/2006/relationships" id="264" r:id="R3b2554e77e5f413d"/>
    <p:sldId xmlns:r="http://schemas.openxmlformats.org/officeDocument/2006/relationships" id="265" r:id="R6fbb107ed50f46e7"/>
    <p:sldId xmlns:r="http://schemas.openxmlformats.org/officeDocument/2006/relationships" id="266" r:id="Raba40fd9a4394a36"/>
    <p:sldId xmlns:r="http://schemas.openxmlformats.org/officeDocument/2006/relationships" id="267" r:id="R4fe135800b9140c4"/>
    <p:sldId xmlns:r="http://schemas.openxmlformats.org/officeDocument/2006/relationships" id="268" r:id="R904d323461794c1d"/>
    <p:sldId xmlns:r="http://schemas.openxmlformats.org/officeDocument/2006/relationships" id="269" r:id="R24909131796a4c0e"/>
    <p:sldId xmlns:r="http://schemas.openxmlformats.org/officeDocument/2006/relationships" id="270" r:id="R0928f083fc554099"/>
    <p:sldId xmlns:r="http://schemas.openxmlformats.org/officeDocument/2006/relationships" id="271" r:id="R1acb25ac4edf4b73"/>
    <p:sldId xmlns:r="http://schemas.openxmlformats.org/officeDocument/2006/relationships" id="272" r:id="Rc8a6eee7d7ff4467"/>
    <p:sldId xmlns:r="http://schemas.openxmlformats.org/officeDocument/2006/relationships" id="273" r:id="R3744012fde3d4f0e"/>
    <p:sldId xmlns:r="http://schemas.openxmlformats.org/officeDocument/2006/relationships" id="274" r:id="R8c91df0193e043b4"/>
    <p:sldId xmlns:r="http://schemas.openxmlformats.org/officeDocument/2006/relationships" id="275" r:id="R00008cc06a2d40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373874b8d0437d" /><Relationship Type="http://schemas.openxmlformats.org/officeDocument/2006/relationships/slideMaster" Target="/ppt/slideMasters/slideMaster1.xml" Id="Rc3fd5442ecf94edf" /><Relationship Type="http://schemas.openxmlformats.org/officeDocument/2006/relationships/notesMaster" Target="/ppt/notesMasters/notesMaster1.xml" Id="R3f5a8ffa839045c5" /><Relationship Type="http://schemas.openxmlformats.org/officeDocument/2006/relationships/presProps" Target="/ppt/presProps.xml" Id="Rcb781635edbf4397" /><Relationship Type="http://schemas.openxmlformats.org/officeDocument/2006/relationships/tableStyles" Target="/ppt/tableStyles.xml" Id="R6c58fbf234a7478e" /><Relationship Type="http://schemas.openxmlformats.org/officeDocument/2006/relationships/slide" Target="/ppt/slides/slide1.xml" Id="R19eb2dfc80b44c3c" /><Relationship Type="http://schemas.openxmlformats.org/officeDocument/2006/relationships/slide" Target="/ppt/slides/slide2.xml" Id="R611d81e4b37946ad" /><Relationship Type="http://schemas.openxmlformats.org/officeDocument/2006/relationships/slide" Target="/ppt/slides/slide3.xml" Id="Rbb85ef5647b74452" /><Relationship Type="http://schemas.openxmlformats.org/officeDocument/2006/relationships/slide" Target="/ppt/slides/slide4.xml" Id="R906b69575b3b4e99" /><Relationship Type="http://schemas.openxmlformats.org/officeDocument/2006/relationships/slide" Target="/ppt/slides/slide5.xml" Id="R98e3744875a84829" /><Relationship Type="http://schemas.openxmlformats.org/officeDocument/2006/relationships/slide" Target="/ppt/slides/slide6.xml" Id="Ra64d5902ad354e0e" /><Relationship Type="http://schemas.openxmlformats.org/officeDocument/2006/relationships/slide" Target="/ppt/slides/slide7.xml" Id="R115bf61bdd7b4330" /><Relationship Type="http://schemas.openxmlformats.org/officeDocument/2006/relationships/slide" Target="/ppt/slides/slide8.xml" Id="R329c60f6c63c4870" /><Relationship Type="http://schemas.openxmlformats.org/officeDocument/2006/relationships/slide" Target="/ppt/slides/slide9.xml" Id="R3b2554e77e5f413d" /><Relationship Type="http://schemas.openxmlformats.org/officeDocument/2006/relationships/slide" Target="/ppt/slides/slide10.xml" Id="R6fbb107ed50f46e7" /><Relationship Type="http://schemas.openxmlformats.org/officeDocument/2006/relationships/slide" Target="/ppt/slides/slide11.xml" Id="Raba40fd9a4394a36" /><Relationship Type="http://schemas.openxmlformats.org/officeDocument/2006/relationships/slide" Target="/ppt/slides/slide12.xml" Id="R4fe135800b9140c4" /><Relationship Type="http://schemas.openxmlformats.org/officeDocument/2006/relationships/slide" Target="/ppt/slides/slide13.xml" Id="R904d323461794c1d" /><Relationship Type="http://schemas.openxmlformats.org/officeDocument/2006/relationships/slide" Target="/ppt/slides/slide14.xml" Id="R24909131796a4c0e" /><Relationship Type="http://schemas.openxmlformats.org/officeDocument/2006/relationships/slide" Target="/ppt/slides/slide15.xml" Id="R0928f083fc554099" /><Relationship Type="http://schemas.openxmlformats.org/officeDocument/2006/relationships/slide" Target="/ppt/slides/slide16.xml" Id="R1acb25ac4edf4b73" /><Relationship Type="http://schemas.openxmlformats.org/officeDocument/2006/relationships/slide" Target="/ppt/slides/slide17.xml" Id="Rc8a6eee7d7ff4467" /><Relationship Type="http://schemas.openxmlformats.org/officeDocument/2006/relationships/slide" Target="/ppt/slides/slide18.xml" Id="R3744012fde3d4f0e" /><Relationship Type="http://schemas.openxmlformats.org/officeDocument/2006/relationships/slide" Target="/ppt/slides/slide19.xml" Id="R8c91df0193e043b4" /><Relationship Type="http://schemas.openxmlformats.org/officeDocument/2006/relationships/slide" Target="/ppt/slides/slide20.xml" Id="R00008cc06a2d40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d90a59b9604b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53fe718ecc44d4" /><Relationship Type="http://schemas.openxmlformats.org/officeDocument/2006/relationships/notesMaster" Target="/ppt/notesMasters/notesMaster1.xml" Id="R8f82b858c88149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b255580a584a72" /><Relationship Type="http://schemas.openxmlformats.org/officeDocument/2006/relationships/notesMaster" Target="/ppt/notesMasters/notesMaster1.xml" Id="Rb1d743fda14946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7577d608144bfa" /><Relationship Type="http://schemas.openxmlformats.org/officeDocument/2006/relationships/notesMaster" Target="/ppt/notesMasters/notesMaster1.xml" Id="R490894c4de574b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e45348188b465d" /><Relationship Type="http://schemas.openxmlformats.org/officeDocument/2006/relationships/notesMaster" Target="/ppt/notesMasters/notesMaster1.xml" Id="R82ae7171b54344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ee980cb4d944a0" /><Relationship Type="http://schemas.openxmlformats.org/officeDocument/2006/relationships/notesMaster" Target="/ppt/notesMasters/notesMaster1.xml" Id="R2f2b935f52a641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0033309a894c6b" /><Relationship Type="http://schemas.openxmlformats.org/officeDocument/2006/relationships/notesMaster" Target="/ppt/notesMasters/notesMaster1.xml" Id="R1f56c39f35794b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6656f14f9f4335" /><Relationship Type="http://schemas.openxmlformats.org/officeDocument/2006/relationships/notesMaster" Target="/ppt/notesMasters/notesMaster1.xml" Id="R78455ab0a7dc4b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db66be52c04ae4" /><Relationship Type="http://schemas.openxmlformats.org/officeDocument/2006/relationships/notesMaster" Target="/ppt/notesMasters/notesMaster1.xml" Id="R185e75bbae1c4d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8a4d92980a4492" /><Relationship Type="http://schemas.openxmlformats.org/officeDocument/2006/relationships/notesMaster" Target="/ppt/notesMasters/notesMaster1.xml" Id="R41162ae4214e4d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a15e3b5fcfb4e6d" /><Relationship Type="http://schemas.openxmlformats.org/officeDocument/2006/relationships/notesMaster" Target="/ppt/notesMasters/notesMaster1.xml" Id="Rced2acaffbed4e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e252271f3d44d1" /><Relationship Type="http://schemas.openxmlformats.org/officeDocument/2006/relationships/notesMaster" Target="/ppt/notesMasters/notesMaster1.xml" Id="Rc5cee852dbe24e9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33b477a586477c" /><Relationship Type="http://schemas.openxmlformats.org/officeDocument/2006/relationships/notesMaster" Target="/ppt/notesMasters/notesMaster1.xml" Id="Rceecb8c48b584bc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d28be50fc734b31" /><Relationship Type="http://schemas.openxmlformats.org/officeDocument/2006/relationships/notesMaster" Target="/ppt/notesMasters/notesMaster1.xml" Id="R4e40221d96484b1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a0fb431f9964791" /><Relationship Type="http://schemas.openxmlformats.org/officeDocument/2006/relationships/notesMaster" Target="/ppt/notesMasters/notesMaster1.xml" Id="R1851eaba024d4f4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cbe2c5121514b45" /><Relationship Type="http://schemas.openxmlformats.org/officeDocument/2006/relationships/notesMaster" Target="/ppt/notesMasters/notesMaster1.xml" Id="R0caa65b46a704d6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2d4800405474df8" /><Relationship Type="http://schemas.openxmlformats.org/officeDocument/2006/relationships/notesMaster" Target="/ppt/notesMasters/notesMaster1.xml" Id="Rbf10026714b446d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c45654f2de54902" /><Relationship Type="http://schemas.openxmlformats.org/officeDocument/2006/relationships/notesMaster" Target="/ppt/notesMasters/notesMaster1.xml" Id="R7635afb29cd84f8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745fb8d20d04944" /><Relationship Type="http://schemas.openxmlformats.org/officeDocument/2006/relationships/notesMaster" Target="/ppt/notesMasters/notesMaster1.xml" Id="Rf5c26943bab2418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261b8b857ae4cc2" /><Relationship Type="http://schemas.openxmlformats.org/officeDocument/2006/relationships/notesMaster" Target="/ppt/notesMasters/notesMaster1.xml" Id="Rded8d7f31f6249a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e640672bd0c46c7" /><Relationship Type="http://schemas.openxmlformats.org/officeDocument/2006/relationships/notesMaster" Target="/ppt/notesMasters/notesMaster1.xml" Id="Rf1c4ede5dc0f43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8f522496c04f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81bd28f5cb4890" /><Relationship Type="http://schemas.openxmlformats.org/officeDocument/2006/relationships/slideLayout" Target="/ppt/slideLayouts/slideLayout1.xml" Id="Raa68bd0fb70846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68bd0fb70846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2dad34f01411e" /><Relationship Type="http://schemas.openxmlformats.org/officeDocument/2006/relationships/notesSlide" Target="/ppt/notesSlides/notesSlide1.xml" Id="R17fd3c4a654f43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871415004a421e" /><Relationship Type="http://schemas.openxmlformats.org/officeDocument/2006/relationships/notesSlide" Target="/ppt/notesSlides/notesSlide2.xml" Id="R7915a95437014a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1a5f015ba4d03" /><Relationship Type="http://schemas.openxmlformats.org/officeDocument/2006/relationships/notesSlide" Target="/ppt/notesSlides/notesSlide3.xml" Id="Rcd63335c75044b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6e59e5c954fb8" /><Relationship Type="http://schemas.openxmlformats.org/officeDocument/2006/relationships/notesSlide" Target="/ppt/notesSlides/notesSlide4.xml" Id="Rc66d87d4113940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6a77183a047a4" /><Relationship Type="http://schemas.openxmlformats.org/officeDocument/2006/relationships/notesSlide" Target="/ppt/notesSlides/notesSlide5.xml" Id="R52393fd661ba44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c3c56de194266" /><Relationship Type="http://schemas.openxmlformats.org/officeDocument/2006/relationships/notesSlide" Target="/ppt/notesSlides/notesSlide6.xml" Id="Rb5b28fcdc68740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fcf658cd14d74" /><Relationship Type="http://schemas.openxmlformats.org/officeDocument/2006/relationships/notesSlide" Target="/ppt/notesSlides/notesSlide7.xml" Id="R7ea84c3f9d7c4c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1c290f0a64ae6" /><Relationship Type="http://schemas.openxmlformats.org/officeDocument/2006/relationships/notesSlide" Target="/ppt/notesSlides/notesSlide8.xml" Id="Rc786a80ded6242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aca7777eb4a1b" /><Relationship Type="http://schemas.openxmlformats.org/officeDocument/2006/relationships/notesSlide" Target="/ppt/notesSlides/notesSlide9.xml" Id="Rc385b089e29a4b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9ecdd51e5464a" /><Relationship Type="http://schemas.openxmlformats.org/officeDocument/2006/relationships/notesSlide" Target="/ppt/notesSlides/notesSlide10.xml" Id="Rd95c25a53dea41c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1e3301225845a6" /><Relationship Type="http://schemas.openxmlformats.org/officeDocument/2006/relationships/notesSlide" Target="/ppt/notesSlides/notesSlide11.xml" Id="R0f35f72d440d40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4526466734550" /><Relationship Type="http://schemas.openxmlformats.org/officeDocument/2006/relationships/notesSlide" Target="/ppt/notesSlides/notesSlide12.xml" Id="R9997c14184a948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12b6646454376" /><Relationship Type="http://schemas.openxmlformats.org/officeDocument/2006/relationships/notesSlide" Target="/ppt/notesSlides/notesSlide13.xml" Id="Rd0933f547190468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cee4ae8654fe1" /><Relationship Type="http://schemas.openxmlformats.org/officeDocument/2006/relationships/notesSlide" Target="/ppt/notesSlides/notesSlide14.xml" Id="R9bd2f9175ba0487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818edeb24465e" /><Relationship Type="http://schemas.openxmlformats.org/officeDocument/2006/relationships/notesSlide" Target="/ppt/notesSlides/notesSlide15.xml" Id="R788faa849fd4497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3a634ee7b48e6" /><Relationship Type="http://schemas.openxmlformats.org/officeDocument/2006/relationships/notesSlide" Target="/ppt/notesSlides/notesSlide16.xml" Id="Rce796bbc1e1b448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22b98be73458d" /><Relationship Type="http://schemas.openxmlformats.org/officeDocument/2006/relationships/notesSlide" Target="/ppt/notesSlides/notesSlide17.xml" Id="R582fd8e3d3a44c4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732bd3f444962" /><Relationship Type="http://schemas.openxmlformats.org/officeDocument/2006/relationships/notesSlide" Target="/ppt/notesSlides/notesSlide18.xml" Id="Rf006270da2cd411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44ba9c77d4f6f" /><Relationship Type="http://schemas.openxmlformats.org/officeDocument/2006/relationships/notesSlide" Target="/ppt/notesSlides/notesSlide19.xml" Id="Rf4fbce5f8e1d427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fe71ec54640da" /><Relationship Type="http://schemas.openxmlformats.org/officeDocument/2006/relationships/notesSlide" Target="/ppt/notesSlides/notesSlide20.xml" Id="R202296c76a054a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A52BE-B7EC-4229-9463-C4E6A3AD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048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Physical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9027A-E2B8-4D91-8A0C-87387331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8382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无线数字孪生信道生成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A3D2B-6A2F-439C-91C0-7E59AEC9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 · Phase93 最终端到端版本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AA5BB-D5A7-4209-9545-38EA417D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108966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08DBB-E557-40AE-B6A2-CBCC78E6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C3F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5C3F1"/>
                </a:solidFill>
                <a:latin typeface="Microsoft YaHei"/>
                <a:ea typeface="Microsoft YaHei"/>
                <a:cs typeface="Microsoft YaHei"/>
              </a:rPr>
              <a:t>核心命题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12A29E-67B8-4316-896A-555BE76F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1950"/>
            <a:ext cx="962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继承 Round1 的“谱预测 → 复信道重建”主线，</a:t>
            </a:r>
          </a:p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针对 Round2 矩形测试岛改造成分岛验证、锚点校准与选择性修正。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9BC9E-22B0-45D6-A1BD-4765274B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项目解释与答辩汇报 · 2026</a:t>
            </a:r>
          </a:p>
        </p:txBody>
      </p:sp>
    </p:spTree>
    <p:extLst>
      <p:ext uri="{BB962C8B-B14F-4D97-AF65-F5344CB8AC3E}">
        <p14:creationId xmlns:p14="http://schemas.microsoft.com/office/powerpoint/2010/main" val="3057780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A94080-DEB8-4398-90CB-75F8C89F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/ PHASE93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59670-3028-42D3-BFD9-903AB1E0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先给结论：这不是 v39 的复制，而是同一主线下的场景化升级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1B6D96-302B-4C44-B33E-33F137F4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E9E9A-6D12-4FC1-BF07-0A1CEC9D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C4F4AD-A954-447A-A15C-B61348EF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3337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82331-18CE-480E-ADBA-B9C0AFD6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867C7A-E351-4750-A1A2-E6742AB2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876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1 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FE2E7-B134-42F3-A60B-00B51FE7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继承的主干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6D11C-DBB0-4866-AA87-398822CF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876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 评分对齐表征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局部空间预测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角域/时延域交替投影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0F0EA-7921-4BAE-8772-53934412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33337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CC365-FE26-4443-97F9-6FC8ABB3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63BF1-C3E0-49FB-A647-8CDBCC40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81200"/>
            <a:ext cx="2876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3 个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ACF69-D35F-42D3-9ED0-C88BA7B5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33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Round2 新难点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56537-7D05-462E-B9D6-AE8DD3CC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14650"/>
            <a:ext cx="2876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测试点集中在多个矩形岛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262 个全零异常点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随机验证严重乐观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64145-5414-4EA0-B313-5231A23E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52600"/>
            <a:ext cx="40005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1BC150-230B-4E25-90AE-F96B1F9F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E2D9D-6C2E-4380-B221-5013678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89 / 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30BFA-A4E5-4248-BDD5-E4711944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的最终策略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08F680-666D-4D5C-8265-85BD5346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914650"/>
            <a:ext cx="3543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 个几何组分别建模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P9/P10/Phase40 冻结方向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仅修正 g5/g6 的 89 个点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73AF0-19C3-46FC-9714-53E6FF29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007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3EF0B-967A-4930-ADAC-C250AFFA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816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一句话结论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1FAC54-920C-4751-A2E6-DF48227D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626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597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解决“怎样从谱恢复复信道”；Round2 进一步解决“官方矩形岛里，哪些点、用哪套局部规律、修正多少”。</a:t>
            </a:r>
          </a:p>
        </p:txBody>
      </p:sp>
    </p:spTree>
    <p:extLst>
      <p:ext uri="{BB962C8B-B14F-4D97-AF65-F5344CB8AC3E}">
        <p14:creationId xmlns:p14="http://schemas.microsoft.com/office/powerpoint/2010/main" val="3179796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61A04A-3D8E-42C8-9CAE-82A93D4B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ROUND1 → ROUND2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9273E-B95B-4895-8213-44D5E040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相似的是物理谱框架，真正变化的是验证几何与局部决策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289D6-D08A-4E83-B72C-6A6A2C20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AA47A-FF84-4BCB-981C-DAAB1187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1ED56-8A77-444A-A47B-F8C367F2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Round1 v39 / v50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73A910-CA52-4057-835F-920CC06C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Round2 Phase93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4E1CC-9D33-41EA-8B31-FB1290C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9EE94-9536-4E9D-886D-B751F8C6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717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339017-8504-4263-8825-477D25FA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固定五折，每折 200 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26000-0074-4AB7-968E-326A3FE6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431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5 折矩形挖空 + 官方人口加权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367A1D-7D75-4DCD-837F-5DB624A4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7655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71985F-073D-42D6-BFCF-FABC64DD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空间模型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75655-E23C-421F-A1BE-8A71E411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71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 个克里金专家 + 分组门控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149D5-DCA1-4126-9BFC-5D27E4AD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7180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11 个几何组 + PAS/PDP 独立邻域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68272-D157-47AA-9DEA-3662C2EB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DCC2A-934B-4189-A7A5-B6EFB0EC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290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地图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F6465-6B21-4B20-B28F-48937CD4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00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209 维走廊/环形/天际线描述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39725D-0225-4814-A769-B4C305DE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004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LOS/local/rich 特征进入岛内距离与校准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AA0BD8-60E0-4B09-89F9-B58A3B10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3385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068283-5600-4037-AC78-32F33C22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F3DFF-E744-4325-B113-2741892A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291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物理相位初值 + 交替投影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FBA789-84B4-4D41-A3D8-75B95C18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2910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保留交替投影，幅度采用保守规范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FEF54F-3F39-40C1-82C8-296357AF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625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00C4CB-5BF0-4ED9-8C5B-65309969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863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最终校准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3A9ADE-324B-488F-BD27-D8A15686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none/PAS/PDP/PAS+PDP 四动作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8156D0-0D65-42CE-BCE5-5FBCE6AD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577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锚点残差 + anti-P10 + g5/g6 选择性修正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85D48B-6973-4D15-8E08-2363A7FD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317673-C184-40B8-9951-E3355A55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97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答辩重点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B2C5E7-EE30-4872-A496-C5D3FAEC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007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不要把 Phase93 讲成 57 个脚本；要讲成“同一谱重建底座上，Round2 新增四层场景适配”。</a:t>
            </a:r>
          </a:p>
        </p:txBody>
      </p:sp>
    </p:spTree>
    <p:extLst>
      <p:ext uri="{BB962C8B-B14F-4D97-AF65-F5344CB8AC3E}">
        <p14:creationId xmlns:p14="http://schemas.microsoft.com/office/powerpoint/2010/main" val="2513902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4BBE43-5438-49F7-AD16-599493E1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任务与评价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09A4E-C9A4-4966-A116-BDBA0A38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PAS、PDP 与 NMSE 分别约束角度、时延和完整复数误差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98288-F2CC-4C0C-B0C2-9E9C8E94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21E38-C19A-4704-B5FD-748AA403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DF6F5-F5A5-4775-AA27-B8ED52AF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7861A-7AFF-4786-9C38-90857AB2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1D65A1-FD6D-4E3C-86EF-11A980C4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· 角度功率谱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4CEC7-7F8D-4606-8DB4-DD0B28DE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256 端口 → 2×16×8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沿 H/V 阵列做 FFT2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比较归一化角域功率形状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271AA-8991-4A09-9F52-6678CF53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DF102-2EF1-4312-BEC4-0231632C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4FF12-E52F-4CF9-9816-F239A2C7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· 时延功率谱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A8D6B-081F-45B7-8898-077AD3C9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192 子载波处于频率域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沿频率维做 FFT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比较归一化时延功率形状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34B55-612F-4335-9AC4-F3136124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4BF697-E914-4760-918F-C516966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AD016-1B32-4FBD-9495-84E42436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NMSE · 原始复信道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F4BA6-33B6-4D60-8CA5-80209BCD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Σ|Ĥ−H|² / Σ|H|²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同时敏感于幅度和相位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越接近 0 越好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8B996-B353-4A10-8581-718F25D5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A4B18-0B80-40B9-8D56-63145B4E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40% PAS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68384-29B4-4113-A061-0F5D3D21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0DC57-2512-487C-A5C1-3DF5DFB5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40% 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7621CC-CD4F-4339-A324-A707C8DF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B51D43-D25A-46FF-8623-0D20BA6E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20% · 1/(1+NMSE)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5E9DD-5730-4326-AA29-5F1FF0AF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626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2B538-9840-4E3E-B17F-3424EC5F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435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计算例子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6FCE7-DED9-4C29-9C38-FCDA107A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245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PAS=0.80、PDP=0.70、NMSE=1.00 → 总分 = 0.32 + 0.28 + 0.10 = 0.70。</a:t>
            </a:r>
          </a:p>
        </p:txBody>
      </p:sp>
    </p:spTree>
    <p:extLst>
      <p:ext uri="{BB962C8B-B14F-4D97-AF65-F5344CB8AC3E}">
        <p14:creationId xmlns:p14="http://schemas.microsoft.com/office/powerpoint/2010/main" val="1237777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DE762C-5CC4-4063-9DAE-A5520208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数据分析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41928-3C65-4105-9EA5-F073A2BD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929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4000 个训练点并不等于 4000 个有效参考点，测试集也不是随机采样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7D8C6-6797-4668-AE73-D987E503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7741D-25E1-4D42-8469-74CF9FA2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A8006E-1698-4D06-8C99-729C83E1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810250" cy="3524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AD27C-6D7A-40A7-8D32-C21CC7DA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43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训练 / 测试点空间分布图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C17CB-6B95-44A0-A6CB-64F3460F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420DB-8E18-49AD-8369-0013E6A6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21641-90BD-446E-B48E-B4DAE496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050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4000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82A0C3-F91D-40BF-93CA-9215951F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57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训练位置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166326-2441-4963-A5CE-39C8F96B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384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Round2_Train_Pos.npy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4D9F7-D6E7-411F-A1EB-0BBC0888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764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18B53-E480-4B05-B595-B1035637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764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CA302-6CCE-440C-B55C-22FF3F30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050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500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7BA910-8448-4848-9E8C-07CA85A6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测试位置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F7C195-3DCE-4F63-B5A9-4298EA81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384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多个小矩形集中分布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0BE66-7E28-4913-A645-F63AB48D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8F8A6-08E2-4A7F-A580-DB17ADEA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9F03D-34B9-4699-BE45-10352CA0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957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262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12DAA-C8CD-4F2B-9704-0167FCC0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481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全零异常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337B2-9326-452D-9A6A-14CAE182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291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energy=0，统一剔除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F22D3F-A2E6-4D38-8CC2-9595CA29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677696-6157-421C-98D0-3B04438A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E8C817-E561-4742-8643-154F9C58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957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3738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EE1E81-F7FB-4DD1-9F1A-84AF93BC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481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有效训练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23D469-7AAE-4E24-8337-3FADD033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6291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进入邻域、锚点和验证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E388A9-8E11-4642-94C3-45A0F1B3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E146D-D436-463E-921F-84626BED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数据决定模型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AEAFD5-927A-4AFB-BD4B-A59DBDFA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292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若随机划分验证点，周围仍有密集训练邻居，会系统性高估官方矩形空洞上的泛化能力。</a:t>
            </a:r>
          </a:p>
        </p:txBody>
      </p:sp>
    </p:spTree>
    <p:extLst>
      <p:ext uri="{BB962C8B-B14F-4D97-AF65-F5344CB8AC3E}">
        <p14:creationId xmlns:p14="http://schemas.microsoft.com/office/powerpoint/2010/main" val="10064918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A5DE439-B00C-4DF0-9F81-F2026010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1 / 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6F53A8-B07C-48D9-B0F5-194CA80E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验证集必须模拟官方矩形空洞，而不是从 4000 点中随机抽样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D7B6E-739B-40A0-9BDE-BD8A4F38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BF8F3-5292-4451-ABBB-0CB0BF8D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75DB2-F408-49EB-96C3-5A41A16B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71500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92F4E-F28D-4AFC-BDB3-DC63CD32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训练点平面（示意）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3ADF92-3641-464B-95C2-DBC1FDFE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C77724-B380-48E4-AC09-8DB4AB40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828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996225-9A01-4E7E-893D-17448BE9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76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3D7C7F-7856-4FE7-9E66-E76F5572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724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B6A662-2E0C-45C0-8BC6-4A666DF6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171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FA91F-4AF7-4E37-B9B6-B65AA16D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619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F2528-04AA-4130-99D1-89468A74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781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07DDFC-67C3-4B79-B6F1-0B156B9A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228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E417E4-5156-464D-B442-BAFF59D7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676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F3B059-3AF6-4A20-8E89-12A12E05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124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CC81CD-6090-45D5-829C-B7D166DA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202DCE-E4FC-42B6-9FE1-27053935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33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88E5C-2F33-48FD-A94D-43078CC0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181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4FC670-5BC1-4C92-8672-77FE77D0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629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A47A26-F20C-44CE-B5BE-675BE22B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076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C4AD67-B004-417D-8CBA-D0BB1436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9A3075-04B0-4E02-A1DD-2D63216F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86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4E25D4-64D9-49DB-BE88-3B8F8A4C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133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B37F6-F24D-45A1-9750-26110770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581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DCB870-DEB5-4366-90DC-53D5C81F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4029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3AF8CB-60A8-4EC2-A1B9-63EF24F1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12DE4E-FAC7-4816-880C-7FBBB5D7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638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C4EB4C-79C0-49F9-8E95-557672BB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86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F1A8E8-79C9-433F-92F5-8DFDA072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533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A04FD3-A5A2-4F63-A8A5-0C2007A3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981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73DF84-16DC-45D7-AF5E-F6FE64C9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F9CC6F-0BDF-4139-8733-2304E6DE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90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851EEA-9224-4E48-AC18-EE4B17F2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038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30DA54-6ACA-483F-B1EA-CD3AE011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486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45D4D5-3D3B-4648-A8DC-33090F9B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933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1B7D12-8E8F-4D0F-A389-8F5A8C5B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0B8B42-46CA-4335-9993-D0DD959C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43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A5B452-F587-4140-95F7-6879AB2C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0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726F37-BAB3-413A-818B-8A885004F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5C7B27-AB17-4076-86A2-62BE117C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886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EDBF29-5B0B-4AED-8407-A954A452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CD869D-505B-4692-BB24-8A2BDB3A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95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11AB7C-E147-4257-A99D-26B7F5A5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943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CBA21A-17E8-4330-B541-2F83000F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703648-ACA1-4539-86C2-8FB07C80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838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35B2CB-332A-424B-B517-F5486A23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DB2299F-4856-4F94-AFB7-292A91BA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47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4FAF8A-2F79-4BB4-89D1-2BDB0565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95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7D6F8D3-ECAD-4CF8-8963-760499DA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343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6D10AA-F3BC-4E73-B250-D4430484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90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86033E0-64D2-4992-82AB-578487C6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238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85A9256-7DC2-4B20-8034-79E802E4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00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6135AD2-786A-4CEA-813B-74BC7D9E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847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173EF2-53F4-4EC1-9E27-387243E1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295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A814845-080C-4EE5-9950-76573A2F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743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3160493-CE61-4D4B-B54E-C6480C0D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19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F6FDCAE-9EFE-4750-BB3F-D21BC38D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746FEA5-6B2B-4D44-A1D6-44BB2487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00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FC999C2-3781-4739-969D-A9C37D5B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248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BB1E251-83C6-4363-B38E-6310534E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95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C45FFF4-2ACC-4DC1-B8C4-6B1B46EA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43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B6B9EC8-148C-468C-B1B7-536E9488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4BFAE72-1EE1-4E9F-A1A4-558EF060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752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9C5DB45-9926-4A17-A061-6C66BCC4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00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C3FD1C0-47B0-4885-B6B6-83D1D515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648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A281408-CF3A-4E96-B2F8-B2E0664E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95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6861A3-DEA7-4ED6-B6AA-BF49AD14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B93644E-31CC-4341-BA06-C0713291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4055BDE-6E7C-49D5-851F-91A18674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152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A1EFB42-F6E3-4441-BA2A-56C6FC63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600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39E7D60-425F-43C1-9750-1CEDC23D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048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ECA82F9-4AA7-44FE-8ECF-E0ACF687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9792BD2-FAE5-417C-91EB-B202CE40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657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0E02724-7B9F-4BED-9FFF-EA49FB60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105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66A4AC0-F578-493C-90C5-8D46A229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552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E1EF4CC-29AF-4C21-87DF-42B86D1F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00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EF319C1-7F29-4A48-B55A-5FB37638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FF47218-47AD-4216-A698-8C2BDB01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09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032508C-4E97-430A-AD67-1ACA9A70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057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21AFDF0-01B3-4A75-9966-A6BBE1D6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05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B1C4BF7-7D7E-45BF-B5BE-40130B89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952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930AC77-9006-47AC-92AB-23AD809B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B71CCE0-706D-4B3A-A20D-8C05D0BE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562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22DC1AD-B203-48B4-B5E6-E1C7DEC0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09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A183B37-1E3A-4E7C-ACF8-5AFF94ED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457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C52FA6B-B7FC-4E8E-AB7A-F562EF40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05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10A2EB6-323B-4FD5-81FC-7094F7A8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352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AEE0992-2BDC-48D0-BAF0-39BF26EA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14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F35A3D4-623B-4452-AC9D-D5A7434F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962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1A296B6-85FE-4C86-A2AA-B88FFFA1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09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E15AF1C-40ED-4A72-9FEF-01B9F6AA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857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2E05E07-A6BD-4D2F-A689-3CD36ACF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05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3DBA73C-41C7-4119-AB34-C78A06F1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66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F0B3667-9C02-40D9-8FA8-3D9EC9EF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14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AE5A544-FF3A-4A2F-A6B4-18AC34E1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3362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A243B66-F248-47C5-8BC3-094D154C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10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6E5A1BE-FDC5-4A70-96EF-F0C95FF4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257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68158D5-6983-48D6-B2E7-EDFA94EF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19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5D3B4E4-0505-457F-987A-4BDBBB68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867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DE5F267-2123-4800-8396-BC236F03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94109A1-62D9-4F2B-8593-90E484DA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47950"/>
            <a:ext cx="876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1E1"/>
          </a:solidFill>
          <a:ln xmlns:a="http://schemas.openxmlformats.org/drawingml/2006/main" w="19050">
            <a:solidFill>
              <a:srgbClr val="C83A3A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A4EB33E-310B-4D8A-A2F2-A7D22168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860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VAL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A656C4B-EFFB-40BF-B898-6298E6FD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81250"/>
            <a:ext cx="1047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C83A3A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DB55C993-2F7F-443F-879D-D82B10AA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95575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VAL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BEAECFC8-228D-45BF-9DFA-7182CEF5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48050"/>
            <a:ext cx="1190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1E1"/>
          </a:solidFill>
          <a:ln xmlns:a="http://schemas.openxmlformats.org/drawingml/2006/main" w="19050">
            <a:solidFill>
              <a:srgbClr val="C83A3A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94B4351-F2EF-41D6-9F21-08CE9B46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24275"/>
            <a:ext cx="7715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VAL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95A8D94-D9B1-408B-AA03-52DCD6A1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29050"/>
            <a:ext cx="8763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C83A3A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637CCB3-5F4B-4125-8768-F38E9E1A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043363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VAL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9A8D05A-EBA6-461E-9246-177B36D4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6E623C3-818D-4CF2-A301-E88771D5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2AE7FAC-2E25-4D2D-9D7E-0B4986F0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9431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① 恢复官方几何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3CB3AA5-DC9E-4D3F-8B54-D3FE9A1F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7172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DBSCAN 恢复分组标签和包围盒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3FD24AE-12F2-4095-B364-F8783469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2686861-E05C-49C5-95A6-8363B2D3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76D6C80-FC88-4679-B985-9C0082A0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② 在训练点中挖矩形洞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5123787-665F-45B5-93BF-5535E047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3377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匹配宽高/人口，并增加 3 m buffer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75DD33F-21DD-412B-85E8-9D300FB8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6067B78-503A-4FCF-B666-574337D1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4A51205-31D1-47C8-B635-4CA31930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672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③ 固定 5 折 + 官方权重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BC02D9B-5189-4EA7-9E75-C0ABEAF8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9582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固定种子；各岛按官方测试人口加权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97A2C02-9DFF-4C06-A1CA-559C65F1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C4B52B5-3AF2-4F5F-8B26-A703D4F3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验证原则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DE94F88-C801-4527-9011-F28047A5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训练过程可以复杂，但选型依据必须来自无泄漏的矩形 OOF，而不是随机点分数。</a:t>
            </a:r>
          </a:p>
        </p:txBody>
      </p:sp>
    </p:spTree>
    <p:extLst>
      <p:ext uri="{BB962C8B-B14F-4D97-AF65-F5344CB8AC3E}">
        <p14:creationId xmlns:p14="http://schemas.microsoft.com/office/powerpoint/2010/main" val="15693576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1E2202-976A-42F9-B9B1-24D07047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端到端流程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AAC1E8-DE81-478F-ADCE-BF9363CB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从四个赛事原始文件出发，把数据、谱预测、通道重建和冻结校准串成闭环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1BB94-7251-40B3-8179-02777830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E181E6-AC7F-4358-8DAD-AAA91A5E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4C5C7-7B08-45EF-AE0F-D3E938ED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10515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0EAA1-648A-42E7-87AB-7DB8E693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C0063-E6D4-411C-994C-EAF34978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066C3-0307-4840-8EDB-822EA081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原始输入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85E3B1-85FD-453E-892D-1088268D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Train H / Train Pos</a:t>
            </a:r>
          </a:p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Test Pos / Map.ply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4E203-B7E1-4740-8299-B8EA4D6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97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0FC7AA-32DB-4B01-B3D9-AF502573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82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4F349-D264-4B88-B9C8-F21281A5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62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清洗与特征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7F6FF7-965C-494F-BCC6-A4D1CB80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122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剔除 262 零信道</a:t>
            </a:r>
          </a:p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/ local / rich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50E6DF-A0E3-42F2-9256-B09F65EB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57B46B-FA0F-4806-BE51-F7AE2A24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394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A7D22-1F73-421A-BD13-EDA38051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空间谱预测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5B41FE-D16A-421F-AB1F-25A7AF7A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34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 PAS/PDP 邻域</a:t>
            </a:r>
          </a:p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Phase6 / P9 / P10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1983B-8CA9-4C2D-A036-D076213B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421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2F840-EAD2-4CAA-90D6-9315F23C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706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8F7970-42D7-4660-9983-42398919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86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复信道重建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F9354D-58E8-4C5D-99B1-F8475E17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746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角域/时延域</a:t>
            </a:r>
          </a:p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交替幅度投影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F57E71-DEAF-44B4-ACE2-15119247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733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DDB43-F15C-47AD-A497-2153A7C6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018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FA1417-1490-4FCC-9A41-B42BBAFA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298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冻结修正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02DEE-1644-4C77-AC71-214A74E2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58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anti-P10</a:t>
            </a:r>
          </a:p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g5/g6 full-192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5C41CC-6D05-4B22-88EB-A2D6D401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552894-A91A-4BFA-B395-F28F5698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706F06-5FA5-4990-815B-6C1A8F83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输出校验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6A96E1-AD70-403E-92BB-9488A1FD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complex64 / finite</a:t>
            </a:r>
          </a:p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500×256×4×192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27EDD2-0E45-4B2A-8753-65D35B65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8C3CEB-B991-4B90-A977-E2E53943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007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推理入口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3D4F43-4CF6-4A40-A933-C813727A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816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python build_phase93_end_to_end.py → Round2_Test_Channel_phase93_g56_antip10_plus_symmetric_clamp.npy</a:t>
            </a:r>
          </a:p>
        </p:txBody>
      </p:sp>
    </p:spTree>
    <p:extLst>
      <p:ext uri="{BB962C8B-B14F-4D97-AF65-F5344CB8AC3E}">
        <p14:creationId xmlns:p14="http://schemas.microsoft.com/office/powerpoint/2010/main" val="19053417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D6A7C-C391-4D30-9923-2AB85D68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继承自 v39 的主干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85C28-F73F-4348-B222-B2E4D4B9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先把超高维复信道变成可解释谱，再用物理结构恢复完整 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A1D2E-6C53-4654-866B-96FE4B87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B0A14-2782-4EEE-B10C-29B0AC1D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0A2246-3544-47BB-8CE7-9975CB52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381250" cy="28003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E6BBD-AC35-436A-9CA4-D1CF2529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BDBD5-F5AF-4C24-BB5C-6FCF353F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 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5E634-E3D9-4BFB-B52D-96C7D7BC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9240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256 BS × 4 UE × 192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每点 196,608 个复数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C302F-EA7C-4E26-8BCC-31F5819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FA981-A909-440B-937E-94861D42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9070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BCD0E5-A521-4067-891C-DC3C9DEF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907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50D8E-FF0A-463C-B749-1300C2D8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00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分支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BA863-54DD-47E5-BBA0-19CAAAB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28875"/>
            <a:ext cx="1924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阵列 FFT2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角度功率形状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BFDBE2-1411-4208-8C90-58982993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337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729C27-B18A-4284-A56B-AEDD24BE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3375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2DC16-7160-49EC-B274-1DD351B2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分支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94AAEB-FEA9-4BEE-88F9-C9386E95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71925"/>
            <a:ext cx="1924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子载波 FFT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时延功率形状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552CA3-FD86-49AB-9C36-B5B5A449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2A6D0-37EE-4EB8-86AB-F8526B1A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2057400" cy="28003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3E51B8-B637-4661-AD5E-A1C84888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779774-AA23-48AD-953A-7B05FE91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002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空间预测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F4A271-B519-4FE5-8161-AAB35CA9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28875"/>
            <a:ext cx="16002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位置邻域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地图上下文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分组参数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锚点残差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A560B9-AFC3-416B-B016-35E3BACD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384294-68AD-4CD4-9B31-1687887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90700"/>
            <a:ext cx="1695450" cy="28003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8C218A-6B51-4A86-AA75-46D08E1B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E580B0-CA64-4612-A208-930C2974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0002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重建 Ĥ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041594-F3FA-44E2-BEC6-922E23C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28875"/>
            <a:ext cx="12382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保留相位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替换幅度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交替投影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CA6D17-C9E2-4455-9F00-7A54D2A7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6089B1-9A68-4259-9BCF-743BBBC7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共同哲学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5D1BD8-46E2-4E6E-90A7-02A1D890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与 Round2 都没有直接回归 19.7 万维复数；它们都把评分结构前置到模型表征中。</a:t>
            </a:r>
          </a:p>
        </p:txBody>
      </p:sp>
    </p:spTree>
    <p:extLst>
      <p:ext uri="{BB962C8B-B14F-4D97-AF65-F5344CB8AC3E}">
        <p14:creationId xmlns:p14="http://schemas.microsoft.com/office/powerpoint/2010/main" val="1060036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16C4BB-E8EE-4E86-BEC6-4198DEA9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2 / 分组建模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4F020-1929-4577-84AD-B1C9E41D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11 个几何组不是一个统一空间场：PAS 与 PDP 甚至需要不同邻域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53E20-B0FA-43E3-9E88-8962D105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A3AB5-6BE9-4451-B83F-3BE8B42A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DC3C5-4FE0-4115-97C3-4C893795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447675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0A197D-CD27-48FA-8057-AB9DCE7B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几何组标签（示意）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4BD56-FE64-4377-869A-8FD64DC0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952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44133-EB75-4459-B545-E5F81760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0E0E7-F8FA-44CC-9FCF-3E31E905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343150"/>
            <a:ext cx="7048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935956-7EE9-4C84-992A-363DC355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5146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EDD18-D028-4F40-947E-2FDDCF70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90800"/>
            <a:ext cx="8763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BAB2D-DDC5-4D2A-B8C3-D13C9454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622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F5F19C-2AEF-4D52-926E-16520981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38550"/>
            <a:ext cx="11239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A2D71F-41FA-40DC-A5E6-F73E4AF2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B0D5-2B20-4274-A855-7D6B42DC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7048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E80E2-BBB8-423E-912C-5A6D2A2A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100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7F2FFD-0803-4E8C-BB1E-0EB24110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733800"/>
            <a:ext cx="9906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3A36F1-6670-406C-95D4-0345A012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052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8C079B-0EA0-4120-AD4F-FF80CD0B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52600"/>
            <a:ext cx="285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D16-3450-4153-BE6A-BE7CCD75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526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960E7-B2ED-4B58-B2B0-AE69C35B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621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邻域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DAC52F-A180-4BA5-9D07-9A0829AA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390775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每岛独立选择 k / 距离幂 / 广义均值 q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可启用角谱对齐、仿射与二次矩约束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37AC0C-7EAA-44BA-8C40-7E763D4C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52600"/>
            <a:ext cx="3143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0E20AF-4ACE-4F64-B768-9433E4F1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526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429867-CF79-442B-8E74-0F3FA2A1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621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38DD09-3F8D-4EDE-8F5D-E7CB9FFF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90775"/>
            <a:ext cx="2686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可使用完全不同的 k / 距离幂 / 地图度量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避免角域最优邻居强迫时延域服从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4CB211-A8EA-496E-974B-9C8F136F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62865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5A5D0D-3B00-48A1-9A3B-CCAA074A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9170D7-1080-4974-902B-8B6C2FBC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848100"/>
            <a:ext cx="582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为什么能提高上限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CE6275-4A61-4F9E-8E71-6A74FC34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76725"/>
            <a:ext cx="5829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矩形内部、矩形边缘、遮挡边界和不同基站侧的空间平滑尺度不同。分组参数把一个全局偏差问题拆成 11 个可验证的局部问题。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F36D54-0813-49BE-A0D8-724BD83D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4C83B5-4AF0-423D-9DB5-BDA17D36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核心变化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BCE163-24C6-4A2D-BA1C-51CBD704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是多专家选择；Round2 进一步把“专家适用域”显式绑定到官方测试几何。</a:t>
            </a:r>
          </a:p>
        </p:txBody>
      </p:sp>
    </p:spTree>
    <p:extLst>
      <p:ext uri="{BB962C8B-B14F-4D97-AF65-F5344CB8AC3E}">
        <p14:creationId xmlns:p14="http://schemas.microsoft.com/office/powerpoint/2010/main" val="8694594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24138C-BEB2-46AD-A781-B3E69D48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3 / 地图上下文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3B9E9-156E-4EC6-9241-3F991917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点云不做完整射线追踪，而是压缩成影响邻域选择的传播环境特征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FCF67-6975-4EEC-9641-1120A78C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341AC-0219-44E3-8500-FAD8BFEF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7A4EA-0B4D-4D17-8BE2-DD5E17FD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36444-AC12-4B81-A483-2E7D2699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77AC0-36DB-43ED-9D96-769E23B9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LOS 特征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5B3BBB-C398-4A17-81C9-E61265DB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基站到 UE 路径上的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遮挡高度、密度、墙面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左右侧分别编码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187147-3F8D-4F66-941E-267531CE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FE54E-216E-4C23-BF0D-F0EFC4B5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38732-53BD-4A54-9C73-FBA8D43D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Local 特征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4349C-6401-4055-AEDF-9966208B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测试点周围局部高度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墙面/地面密度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多尺度邻域统计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37EF90-3EE8-4FEE-8E16-3544FDB9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320FC9-3EBD-4012-A09B-C380A9B5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20D04-B06A-4290-9D01-A92AC36F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Rich 特征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4A0FA-9DDA-4396-A054-B793B00E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方向、角度、障碍与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频带描述联合进入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树模型/门控模型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9FBFF9-1FBA-4292-8AD1-69A8AF0D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705100" cy="295275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1A5538-E433-4B18-965A-E150BCF4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D106F6-534C-4E0F-B008-A04028B0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621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如何使用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1E15F5-0778-4A30-A321-FC4761EC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2479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不是直接生成 H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而是改变谁是邻居、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残差应修多少、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哪个岛采用哪套参数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8D89B4-EE42-4925-B553-3F042ABC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9A2E80-E42C-4AFE-942B-7EFDA9FE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与 v39 的关系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9BA972-B34F-4374-A0CA-C38767D1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937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v39 的 209 维地图描述更系统；Round2 保留“地图决定传播相似度”的思想，并围绕岛内验证做更强的任务定制。</a:t>
            </a:r>
          </a:p>
        </p:txBody>
      </p:sp>
    </p:spTree>
    <p:extLst>
      <p:ext uri="{BB962C8B-B14F-4D97-AF65-F5344CB8AC3E}">
        <p14:creationId xmlns:p14="http://schemas.microsoft.com/office/powerpoint/2010/main" val="10530729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CD76D0-7400-4AF8-8BFA-28B2C1E1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基础模型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019FF-F86E-41C0-B9A8-0546E289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局部邻居给出目标谱，交替投影把 PAS 与 PDP 约束写回复信道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B7F72-0287-460C-91DE-47FF38F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7432F-5DCC-4765-BFEB-DC4D97D8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8FEA5-020C-44B0-92DF-A748083F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BFAD1-602A-496F-A891-14F0F057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4A8A2C-8E47-4E42-A9C9-2416D2AB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局部邻居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6338E5-818E-4F6B-9B60-CECD64AA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2209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cKDTree 查询候选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 ∝ 1/max(d,0.25)^p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仿射/二次矩修正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9AF99-2FB3-4543-8AA0-57C379ED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EDDE7-9FA3-4774-BA86-7A955188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24DD6-7712-4262-A662-DCE892DB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CDB7CD-973B-4566-AB23-944A7B7A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目标谱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60BA4C-8BD3-44F2-850B-410D4ADD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05075"/>
            <a:ext cx="2209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PAS：角域功率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PDP：时延域功率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分别聚合、分别归一化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22BCCB-29EE-4B46-8B9C-8BAB67F5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146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494A65-1F25-4FAA-84BE-183C408C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66900"/>
            <a:ext cx="4000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B2F6F1-F696-40E0-9F35-FF8942AF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交替投影闭环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CF242E-D234-4E6C-80F6-F5FB15B0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D551C0-F6B8-4589-9234-C826AF74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BS-FFT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837914-9EAB-4F1D-A1A1-D722A95E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860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BED918-535C-4243-ABD3-6A2AA109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Freq-FFT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C1925-43DD-4D2A-8214-C9A9D69F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86050"/>
            <a:ext cx="5524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90461-4C99-4906-8DDE-E874269A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33750"/>
            <a:ext cx="552450" cy="3238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7D5570-C3E6-4045-81D4-0F0F18FB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38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替换幅度，保留当前复相位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7CD999-7D50-47FE-881D-420C9175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859908-00A2-4464-85F8-DB52B72F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物理含义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35F8F1-267C-4876-9A29-CE4D012F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和 PDP 是两个不完全兼容的边缘约束；有限轮交替投影在两者之间取得可控折中。</a:t>
            </a:r>
          </a:p>
        </p:txBody>
      </p:sp>
    </p:spTree>
    <p:extLst>
      <p:ext uri="{BB962C8B-B14F-4D97-AF65-F5344CB8AC3E}">
        <p14:creationId xmlns:p14="http://schemas.microsoft.com/office/powerpoint/2010/main" val="3759887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6BC5A8-F069-4B82-AC5C-D93D9CF5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Phase6 / 物理谱底座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A3508-37FA-47A0-8205-B4B00329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Phase6 把位置、方向和地图描述变成 24-band PAS 目标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42BFF-B226-4D59-AF7E-3C5B354B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EA0CA-4FB6-4C90-A559-C84D26B9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719EC-1F33-46DD-8A01-56342684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4EEFD-615A-4811-9DD0-7CFCABD1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83539-EF1B-459B-B374-4925440F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位置与岛标签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A53A7-D91B-400A-9A4D-1246FC8D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x / y / side / group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BE182-2975-4B03-8FE4-CF8EDC0B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C8FEE-971D-4B42-B616-8838D639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AA8AA-54EC-4FCA-A6C4-8949D23E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方向特征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4EC888-C771-4F48-ADB5-8FD6F907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水平/垂直 canonical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B9E46-25D7-49B9-9D58-3EA6078F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AE9CD8-2DDA-4BBB-8909-CC80E565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B62923-73E1-4E71-832A-52FF4C8E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地图特征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80BBB1-1107-402C-B4F2-F165CD67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/ local / rich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46B90-36AF-4395-81D1-A8A0645B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394842-13CB-423C-B608-E2A74731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045EC-0A1D-4DA3-B15E-C9BE3785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信道描述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789A3C-5F63-4CE2-864C-50C67123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24-band PAS/PDP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7BC38A-DC36-4ED9-BDE1-07128255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0985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DC1969-A01E-4292-95DF-E188B873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66900"/>
            <a:ext cx="25336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913539-D910-46B6-9ED6-AA8B6082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9E681D-4BFA-4962-8093-1F42914C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764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冻结组合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2CC92B-CD42-4723-88A9-9EB4EE4E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05075"/>
            <a:ext cx="20764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MLP / ExtraTrees / canonical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rich-tree / gate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按矩形 OOF 选型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A381C-8822-46CD-81C3-D95E00C2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71950"/>
            <a:ext cx="90678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BFC2FD-1D73-4FB1-AE5E-DE6E728D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47675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66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Phase6 决定最终结果的大部分空间结构；P9 与 Phase10 都从它出发，只做可验证的局部方向修正。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DCE5E2-6B31-4C9E-ABBC-4DABE38E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0169A5-A391-425A-B2BA-B1F246C8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007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叙述方式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F1A89-90FC-40A5-9AC4-F22EB21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816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61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把 Phase6 讲成“共同底座”，后续版本讲成“在底座上增加哪种可解释修正”，主线会比按脚本编号清楚。</a:t>
            </a:r>
          </a:p>
        </p:txBody>
      </p:sp>
    </p:spTree>
    <p:extLst>
      <p:ext uri="{BB962C8B-B14F-4D97-AF65-F5344CB8AC3E}">
        <p14:creationId xmlns:p14="http://schemas.microsoft.com/office/powerpoint/2010/main" val="10808565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590C6D-067F-4595-8ACA-E27E0CF3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P9 / 锚点联合模型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BE5F8-5D1A-4A61-AFED-4D65A06E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47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矩形内部的训练点成为官方几何锚点，负责校正局部 PAS 与 PDP 偏差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2E1AF-605D-478E-A6BC-67BDE27A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3AF1B-D885-4756-BC97-CC9AE43D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110C4-BF39-460A-9F89-895B9A82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F1C71-CAD7-4153-B3ED-1197B4D9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A7F2D-BB9A-493E-BB8D-C9A31F3F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外部训练点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0DE0F-CE3C-4368-9512-882D8342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先排除矩形内锚点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构造无泄漏局部基线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D7BD8-9E25-463D-8F9E-0F993DED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B5AF52-9968-4F96-BAA7-E320383C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37092-D9BD-43BC-9D6A-219F1BA8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41C4C1-94CA-47B0-97E3-FD4FBC9B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锚点残差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50349-B094-4161-B2BD-DB4E0C3D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PAS：log 真值/基线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PDP：log 真值/基线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按岛内邻居插值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6FD07-776F-4CFF-AFBF-D9A854CB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6E71B9-129A-4AEF-9BB3-B21A3113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689012-82DC-470A-9EBA-2D012092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CF18B2-CEF6-40F5-869F-14290F30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收益门控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328B84-4365-4B54-9193-0A347B22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ExtraTrees 学习 alpha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五折收益网格决定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是否靠近局部目标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09A0A-2E35-41EA-9315-2B247E7D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CF317D-5B7D-415D-9680-23C4EC31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752600"/>
            <a:ext cx="1562100" cy="30480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B6A6F-91B4-49ED-A65F-CEAE2F77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A051D-08BE-478E-8CFD-C7ED6C46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9621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692302-0252-432C-8691-AE053311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90775"/>
            <a:ext cx="11049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 次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联合投影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020191-C74D-4CCC-957F-EC956A38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EFA678-A479-490B-B8D4-77710B01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关键防泄漏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52E952-0C3C-4563-A113-44177136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锚点先用矩形外训练点预测，再计算残差；锚点真值只用于构造可推理的岛内校准场。</a:t>
            </a:r>
          </a:p>
        </p:txBody>
      </p:sp>
    </p:spTree>
    <p:extLst>
      <p:ext uri="{BB962C8B-B14F-4D97-AF65-F5344CB8AC3E}">
        <p14:creationId xmlns:p14="http://schemas.microsoft.com/office/powerpoint/2010/main" val="4544395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0B5D33-FB28-40F8-A21B-C4C4C587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Phase10 → Phase40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9E5C7-C751-4258-AC20-CE576583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532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P10 不是最终答案，而是构造一条“已知较差方向”，再用官方反馈反向移动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BB63C-BA64-4266-B699-BECDA798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41A6B-6001-4298-A2F3-7A204DC7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8C48F-027A-40A3-B731-73651107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63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F75A9-8AF2-4D17-8256-81C8029E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ABC14-0EBC-4812-9FCD-65280E1E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P9 · 0.6395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BCA48-862D-4BE4-A1D0-EB61E3DF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286000"/>
            <a:ext cx="9715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43D65B-941E-490D-83C8-C2C59612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860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8DA65-C385-4677-BFEF-EB9BB695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050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P10 · 0.6354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F2E42-658C-4B49-9290-0E03944D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098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d = clip(log(PAS₁₀ / PAS₉), −2, 2)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4D65F-E058-466E-878D-EEB09DE3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1163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072E5-7752-43AD-851D-C544050B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2E1FB7-3672-4C64-AAD6-510A4209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D48D44-15E4-446F-9DEF-2A2FD368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210050"/>
            <a:ext cx="9715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EA3AB-14D9-4135-AB1E-35D0A5D4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10050"/>
            <a:ext cx="2266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5C6AAE-F219-4A71-982D-F9E62FB7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291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Phase40 · anti-P10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734A9-1AEC-48BA-BFF9-31DEAEAA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PAS₄₀ = normalize(PAS₉ · exp(−0.50 d))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823114-469D-4BE9-8A2C-1131A7D5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1D97C4-07AE-4E54-9AC8-D7564EBE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245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为什么成立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077DB-BE9C-401E-B23F-80B4200E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054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937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官方分数表明 P10 方向持续变差；Phase40 将这条黑盒反馈冻结成可复现的反向谱修正，而不再追逐更高本地分数。</a:t>
            </a:r>
          </a:p>
        </p:txBody>
      </p:sp>
    </p:spTree>
    <p:extLst>
      <p:ext uri="{BB962C8B-B14F-4D97-AF65-F5344CB8AC3E}">
        <p14:creationId xmlns:p14="http://schemas.microsoft.com/office/powerpoint/2010/main" val="13457717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EE55E-C19D-451F-B5A7-F9FD71FF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Phase93 / 最大上限的选择性修正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4B642-A97F-4115-8902-3B2900DC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96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只对 g5/g6 的 89 个点使用 full-192 锚点目标，其余 411 点锁定 Phase40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96AF2-2207-4B8B-8F38-29EFFC2F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8731F-9B5B-420B-A377-D1A722E2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3EEE0-8755-42F7-ABAC-4EB0D244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4290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EE358-BAD3-4885-A150-17327360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1D0D7-E6A1-4FCE-B63E-456AC9E1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89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68F3A-4B66-4CDB-815B-C76AEBBF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g5 + g6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73635-DA2A-4177-83EB-24EE2ACC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97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43 + 46 = 89 个测试点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22 + 42 个训练锚点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 邻居，距离平方权重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11867-D459-4532-92E3-2F2ADFD0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2890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F7315-7751-4099-BB66-BB405993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34290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21C41-5D7E-48A9-BEEF-CD1A6FBC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276E4-4526-4513-81BD-BA63F135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81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192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4B00F5-747A-4CA0-AA7C-311016CA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33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full-192 PAS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385EDF-B7A2-46A0-ACE1-B71D24F8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14650"/>
            <a:ext cx="297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目标 = 0.80×P9 + 0.20×Anchor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 次角域投影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随后仍应用 anti-P10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F0E112-3F8D-4F48-A212-556981E7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2890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5C526C-D83F-432F-A066-001B591C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52600"/>
            <a:ext cx="2171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9CF6C1-83DB-48E0-8F63-A471EED9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B5DFF-F1AB-4B2B-A94B-2BB713DC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411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EC7441-07DB-43E6-8012-541DBD0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33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其余点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5A214-88FE-4CDD-B77F-876C77DD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14650"/>
            <a:ext cx="1714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411 行逐位等于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限制修正外溢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5DED71-D82A-476C-A345-74BE44A6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1163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58CF71-9EB7-48A7-B954-73834814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C93[i,:,u,:] = s90(P9[i],u) × C89[i,:,u,:]；正式测试中所有 s90=1，因此最终数值就是 g5/g6 + anti-P10 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6B540A-0AAA-4B59-927D-B951D249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ABD700-9A1F-4AE3-8AD5-1CFE7754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626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设计思想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7BCBCE-D66B-41B4-9F49-0D86C47C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435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当提交次数有限时，优先扩大有矩形 OOF 证据的局部修正，不把风险扩散到全部 500 点。</a:t>
            </a:r>
          </a:p>
        </p:txBody>
      </p:sp>
    </p:spTree>
    <p:extLst>
      <p:ext uri="{BB962C8B-B14F-4D97-AF65-F5344CB8AC3E}">
        <p14:creationId xmlns:p14="http://schemas.microsoft.com/office/powerpoint/2010/main" val="12478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2CF737-6776-431C-87C3-DAEB2057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Phase93 事实审计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94C8E-5E2F-4DE2-BC34-4EFDE573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clamp-floor 是安全兜底；正式 500 点输出中没有改变任何数值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A2FB0-12C6-4487-B9E5-34DDB5BA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EC95E-ED2C-49E6-81B7-E21B7EF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10C1D-545F-482C-A239-DB18AAE5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238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9EA8C-C808-4F27-8D15-5E811C29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B4A03-B8C8-436A-B8F8-CDB42975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计算规则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1A257-1713-4DA3-AC81-017D34AB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278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从原始 P9 预测计算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每样本×UE 的 PAS/PDP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1% 低尾范数 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B7DB5-C7CD-47F3-B70F-23D56C80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765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B58C5-8292-4D18-9511-0A1A5DD9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238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2FCF4-878C-48A2-9184-AEA6C9FB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58465-94F6-4315-9F9A-DB850876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尺度规则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27D6F-9EAD-49A2-A70D-49B0581E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47925"/>
            <a:ext cx="278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 = clip(√(1e−15/q), 1, 5)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只允许抬升极低能量分支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不读取测试真值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B7CEB-74AD-451B-8C76-32216F0A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765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327458-210B-454F-856F-5287436A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6E8AE-6DCA-4120-AAC6-6CCF8CBE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1D8D6F-9919-46F1-A4B2-58F26530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383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7DC7DA-28BE-4C47-9EBC-CACB467D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590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正式结果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214F0A-FC71-45D1-9D40-2770E465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71800"/>
            <a:ext cx="2209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2000 / 2000 分支 s=1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active branches = 0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Phase93 = Phase89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E4BAA2-E2B9-472A-9FF1-D6270FD0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A5888D-180C-42A0-B429-80726147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答辩口径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197480-E0C9-492E-8DCD-D0BDEA6F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958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clamp-floor 不是 Phase93 得分提升来源；真正的最终改动只有 g5/g6 full-192 锚点修正与冻结 anti-P10。</a:t>
            </a:r>
          </a:p>
        </p:txBody>
      </p:sp>
    </p:spTree>
    <p:extLst>
      <p:ext uri="{BB962C8B-B14F-4D97-AF65-F5344CB8AC3E}">
        <p14:creationId xmlns:p14="http://schemas.microsoft.com/office/powerpoint/2010/main" val="134110028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87C75A-2D51-4A86-89C7-8F838386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训练与复现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C331C5-C1D1-4D24-AA07-96E41C86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57 个执行阶段可以归纳为 6 个职责清晰的宏模块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2E852-AB63-41F8-A58A-8FEF4770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19BA0-384D-4598-B6F9-1EFD5F08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35358-7197-4BCD-BF0D-7A4D6813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7734F-ACF1-40A1-9DD4-DA5962D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3EF18-6FF0-4C13-8072-94AB3677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数据/地图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D009CF-2EF4-436D-8763-3BB76772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· local · rich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信道描述缓存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97267-04B9-4D42-851F-47DCD71E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D520F-77FF-441E-AC08-23F4BE27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3E847-DC67-42CB-A2A6-7518D73B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61665-5C80-43BA-8AB7-1F0007AF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 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FB614-1211-415F-9D64-E11B6088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 折挖空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官方人口加权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0DA29-A0B3-490E-ABE2-98A40A15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2D44E-A3D9-4C25-ABAC-D8BE9EA7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D7450-2D79-4051-8218-FD4B2D63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B0D9C-51D1-4D5A-B57B-8F86E443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基础谱搜索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CC0475-2C5B-4AEA-A635-992A1157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Phase1–6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分组参数与目标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35EAF-3A2E-4AFD-80BB-5C290A2D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50BE1F-C4B6-4E85-8A8F-20F5E087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6B23B-E9B0-4160-9501-83D7539F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648DBB-2FF5-4A1D-8E24-CFFBE07B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锚点与组合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3ADCE9-990D-4162-9789-6C360C70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Phase7–10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残差/门控/组合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63492F-8050-4201-B04D-8E84647E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F7098E-ACA3-4FB6-B309-943C760A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5D9A10-54AD-4258-A981-E466BCBD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1EAA3F-4F94-4EF3-A9B6-DB450EBD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官方反馈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50AFF-965C-4D6D-A834-C471410D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冻结 anti-P10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A1FFB9-22C7-45CB-B82B-FDDFE36A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5D319A-B6F5-4C6C-85A8-F7FF9EB2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F573E4-B859-4B4D-A278-CC2C10EA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8D93E7-AC79-415C-9348-15D69D59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选择性修正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6FA4DA-73F6-4029-86B7-F01E54C7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Phase93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g5/g6 full-192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5D0020-BD38-420B-A239-B8FA5CAA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4FA625-2C2D-447A-AB49-1CBA7981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工程结论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9D9E33-B866-4DD6-AF44-18B897F8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181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脚本多是为了保存 OOF 证据、冻结参数和可恢复缓存；算法主线仍是 6 个宏模块，而不是 57 个彼此独立的模型。</a:t>
            </a:r>
          </a:p>
        </p:txBody>
      </p:sp>
    </p:spTree>
    <p:extLst>
      <p:ext uri="{BB962C8B-B14F-4D97-AF65-F5344CB8AC3E}">
        <p14:creationId xmlns:p14="http://schemas.microsoft.com/office/powerpoint/2010/main" val="15724190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574651-BD40-4A48-9E7A-D452143E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验证结果与可信度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DE5EB-AD19-42CE-94E9-C128124A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47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的证据是局部矩形 OOF 增益与严格字节级约束，不把本地分数冒充官方分数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056F2-771C-49B6-8576-76ACD170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8A1AF-BEA8-43BE-B940-D3514A67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4483B-F063-4012-8EAD-A031ECBC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D28C1-A058-4660-A2CB-F153CDFF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385A5-1376-4542-BD2A-2A1F3ED1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+0.000806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8737B-7BD5-4CFB-9DC2-8C30F64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相对 Phase40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5B009-B998-45B3-A8D9-18E239AD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五折矩形 OOF 的平均增益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8C9A33-C425-4379-AC90-C446354E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E5D1E-1598-4F76-96B0-217618E8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A91AB-9C1B-46C4-988B-615E35CD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4 / 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42F7F2-858E-49C6-989D-6762EB1C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正增益折数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0F4B3F-6197-41AB-94AF-084F5FB2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 折中 4 折提高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最差折 −0.000130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8D42A0-39D4-4DAF-AD56-28CA6EA2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719AC-D28A-4898-8D25-03F56BD8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171261-BEBC-429E-BF45-A7E9301A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+0.000272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64B155-5F1D-43C4-AE78-34214071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稳健下界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ECFB45-B2D4-40C3-B688-75A3FB9A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mean − 0.75×std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2040C-7A4E-49C3-9706-453E5931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7051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C0F76-8F01-4F27-A1BE-A9E58DBB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D7763-CFDA-4EC3-908C-DF9EDB68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81200"/>
            <a:ext cx="2247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0.639697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829578-7F8B-48FF-A18C-6A4D28E3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336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已知官方参照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A00F67-8802-421B-9419-02FC26B3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14650"/>
            <a:ext cx="2247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 官方测试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注意：不是 Phase93 官方分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A5542D-8885-4E67-A184-E4C706AF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111633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3701A3-72BE-4808-B16A-7D8436A5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1062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 QA：shape=(500,256,4,192) · complex64 · 786,432,128 bytes · finite · 500 行全部非零 · SHA256 固定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EF59C0-AB81-4973-BCCC-0DEB4CA1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27BD2F-0ABE-4D86-8A5E-E187778D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626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结果口径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00DE95-4FE6-462B-BE30-B5E3B020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435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15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仓库未记录 Phase93 的官方隐藏测试分数，因此汇报只陈述可复现的矩形 OOF 增益和已知 Phase40 官方参照。</a:t>
            </a:r>
          </a:p>
        </p:txBody>
      </p:sp>
    </p:spTree>
    <p:extLst>
      <p:ext uri="{BB962C8B-B14F-4D97-AF65-F5344CB8AC3E}">
        <p14:creationId xmlns:p14="http://schemas.microsoft.com/office/powerpoint/2010/main" val="14931618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2DB68-EEDA-4758-BA9A-3F9BFC24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端到端复现与提交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6364B-8687-43B8-8383-936F40C2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赛事方只需补齐四个官方原始文件，即可从零生成 Phase93 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050A6-B4DD-47FF-957B-4003BE1A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61FD5-7DD5-4DDC-A830-4C1AD510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C79E3-C56B-4A61-8E6B-9CC10072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F0E59-8E09-4B3A-B2E8-0290A49B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E8938-5689-4A20-9320-A9CA29A2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需要的赛事原始数据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56351-AE7B-4BAE-9569-1CFDF3CC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2971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Round2_Train_Channel.npy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Round2_Train_Pos.npy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Round2_Test_Pos.npy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Round2_Map.ply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E04B6-E4CC-433A-9397-35758719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28950"/>
            <a:ext cx="6667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61D0C-5DD5-402D-8A20-A89C6030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E6C05-3A7A-4483-8C36-3CD29F8A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19AAA-D7FD-4F6C-9074-FF359CF5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运行命令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24C85-AE27-45F1-B78B-DFC91598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90775"/>
            <a:ext cx="2971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python -m pip install -r requirements.txt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python build_phase93_end_to_end.py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可用 --list-stages / --from-stage 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35594-A643-4165-AD7E-8B8E82E6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28950"/>
            <a:ext cx="6667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1B4CE-A9F7-42D3-92D2-87785ACB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52600"/>
            <a:ext cx="2057400" cy="29527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E648CE-FF7C-4CA5-8DF8-64E462B4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47477-7543-41AA-8025-5AAC03B2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62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NPY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8902F4-D6CC-4216-9655-9DCAE0D1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16002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Round2_Test_Channel_...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500×256×4×192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complex64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9498F-49EC-4C4B-BB3B-544BCFB5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C96BB-2764-4CD2-9A13-AD2BC8CA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提交边界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DA6146-37D0-451A-A4BA-8E5A6852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提交源码、requirements、冻结 manifest 与最终 NPY；赛事原始训练信道、位置和点云不重复上传。</a:t>
            </a:r>
          </a:p>
        </p:txBody>
      </p:sp>
    </p:spTree>
    <p:extLst>
      <p:ext uri="{BB962C8B-B14F-4D97-AF65-F5344CB8AC3E}">
        <p14:creationId xmlns:p14="http://schemas.microsoft.com/office/powerpoint/2010/main" val="124967311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690785-FF4D-4557-8223-059FC85E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FE5E99-5BCC-44FE-B1B0-0967CC4B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1173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的价值不在堆版本，而在把 Round1 主线变成适配 Round2 官方几何的可复现系统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EEDBC-23B3-415C-9D56-9092FEDA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4F9E1-9011-4F72-88F8-270C3C84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90E3F-12D2-4E94-B590-17AF4919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D8067-2AC4-4053-93DC-76524F47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2A2420-4D97-4DC9-AE8D-222A899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继承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42F3A-85B7-43BA-B45E-DA5FF284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28765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 评分对齐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局部空间连续性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复信道交替投影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555F1C-DEF4-4728-87A1-F123B4DD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5D5EE-0E4C-40C3-945D-3C37E1C0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84D77-9B16-4EFB-BD3B-6B3B87D9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改变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34896-F4E8-49B7-BD48-0500DEFC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47925"/>
            <a:ext cx="28765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矩形挖空 OOF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 组独立参数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锚点残差与官方反馈方向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2384ED-2123-454E-A479-77103A57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4000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34C66-3567-40AD-8452-A6643EAD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E79C1-E5FE-4A9A-A06E-970AD25D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193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最终选择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6593AD-A6B9-40C4-B888-3A07E0B3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47925"/>
            <a:ext cx="35433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只在 g5/g6 扩大有证据的修正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89 点改变、411 点锁定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四原始文件可端到端复现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0C8A30-7641-4589-A36B-093D19B6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一句话总结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3C56F-C60D-410C-A025-366C0228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先理解数据与指标，再按官方空间几何拆解模型，比盲目扩大黑盒模型更有效。</a:t>
            </a:r>
          </a:p>
        </p:txBody>
      </p:sp>
    </p:spTree>
    <p:extLst>
      <p:ext uri="{BB962C8B-B14F-4D97-AF65-F5344CB8AC3E}">
        <p14:creationId xmlns:p14="http://schemas.microsoft.com/office/powerpoint/2010/main" val="10639842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2026-08-26T12:09:50.4820000Z</dcterms:created>
  <dcterms:modified xsi:type="dcterms:W3CDTF">2026-08-26T12:09:50.4820000Z</dcterms:modified>
</coreProperties>
</file>