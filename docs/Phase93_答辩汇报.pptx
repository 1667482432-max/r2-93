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b585da937fd40bf" /><Relationship Type="http://schemas.openxmlformats.org/officeDocument/2006/relationships/extended-properties" Target="/docProps/app.xml" Id="Rf36f0e20a5df4b09" /><Relationship Type="http://schemas.openxmlformats.org/officeDocument/2006/relationships/officeDocument" Target="/ppt/presentation.xml" Id="R79ad01c4f4dc4ca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fe3a6a1513d467f"/>
  </p:sldMasterIdLst>
  <p:notesMasterIdLst>
    <p:notesMasterId xmlns:r="http://schemas.openxmlformats.org/officeDocument/2006/relationships" r:id="R0303c918f74c4f97"/>
  </p:notesMasterIdLst>
  <p:sldIdLst>
    <p:sldId xmlns:r="http://schemas.openxmlformats.org/officeDocument/2006/relationships" id="256" r:id="R10ad4412fcb24a77"/>
    <p:sldId xmlns:r="http://schemas.openxmlformats.org/officeDocument/2006/relationships" id="257" r:id="Rf4ee6c5e2b56496d"/>
    <p:sldId xmlns:r="http://schemas.openxmlformats.org/officeDocument/2006/relationships" id="258" r:id="R19a823ec814b4906"/>
    <p:sldId xmlns:r="http://schemas.openxmlformats.org/officeDocument/2006/relationships" id="259" r:id="Raab42b01a0514db6"/>
    <p:sldId xmlns:r="http://schemas.openxmlformats.org/officeDocument/2006/relationships" id="260" r:id="R4808be925228431f"/>
    <p:sldId xmlns:r="http://schemas.openxmlformats.org/officeDocument/2006/relationships" id="261" r:id="Rc5714efbd60c4e82"/>
    <p:sldId xmlns:r="http://schemas.openxmlformats.org/officeDocument/2006/relationships" id="262" r:id="R95474a6b016d4490"/>
    <p:sldId xmlns:r="http://schemas.openxmlformats.org/officeDocument/2006/relationships" id="263" r:id="Rf6b372d0d71a4841"/>
    <p:sldId xmlns:r="http://schemas.openxmlformats.org/officeDocument/2006/relationships" id="264" r:id="Rc8db5e374ec24409"/>
    <p:sldId xmlns:r="http://schemas.openxmlformats.org/officeDocument/2006/relationships" id="265" r:id="R607d8470bb33458a"/>
    <p:sldId xmlns:r="http://schemas.openxmlformats.org/officeDocument/2006/relationships" id="266" r:id="R824954627eb6400d"/>
    <p:sldId xmlns:r="http://schemas.openxmlformats.org/officeDocument/2006/relationships" id="267" r:id="R120a0968cc2d4548"/>
    <p:sldId xmlns:r="http://schemas.openxmlformats.org/officeDocument/2006/relationships" id="268" r:id="Rf88821539db84b0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b4feee9c6894fef" /><Relationship Type="http://schemas.openxmlformats.org/officeDocument/2006/relationships/slideMaster" Target="/ppt/slideMasters/slideMaster1.xml" Id="Rdfe3a6a1513d467f" /><Relationship Type="http://schemas.openxmlformats.org/officeDocument/2006/relationships/notesMaster" Target="/ppt/notesMasters/notesMaster1.xml" Id="R0303c918f74c4f97" /><Relationship Type="http://schemas.openxmlformats.org/officeDocument/2006/relationships/presProps" Target="/ppt/presProps.xml" Id="R49d0714a20124e9d" /><Relationship Type="http://schemas.openxmlformats.org/officeDocument/2006/relationships/tableStyles" Target="/ppt/tableStyles.xml" Id="R9a74103d96ba4b51" /><Relationship Type="http://schemas.openxmlformats.org/officeDocument/2006/relationships/slide" Target="/ppt/slides/slide1.xml" Id="R10ad4412fcb24a77" /><Relationship Type="http://schemas.openxmlformats.org/officeDocument/2006/relationships/slide" Target="/ppt/slides/slide2.xml" Id="Rf4ee6c5e2b56496d" /><Relationship Type="http://schemas.openxmlformats.org/officeDocument/2006/relationships/slide" Target="/ppt/slides/slide3.xml" Id="R19a823ec814b4906" /><Relationship Type="http://schemas.openxmlformats.org/officeDocument/2006/relationships/slide" Target="/ppt/slides/slide4.xml" Id="Raab42b01a0514db6" /><Relationship Type="http://schemas.openxmlformats.org/officeDocument/2006/relationships/slide" Target="/ppt/slides/slide5.xml" Id="R4808be925228431f" /><Relationship Type="http://schemas.openxmlformats.org/officeDocument/2006/relationships/slide" Target="/ppt/slides/slide6.xml" Id="Rc5714efbd60c4e82" /><Relationship Type="http://schemas.openxmlformats.org/officeDocument/2006/relationships/slide" Target="/ppt/slides/slide7.xml" Id="R95474a6b016d4490" /><Relationship Type="http://schemas.openxmlformats.org/officeDocument/2006/relationships/slide" Target="/ppt/slides/slide8.xml" Id="Rf6b372d0d71a4841" /><Relationship Type="http://schemas.openxmlformats.org/officeDocument/2006/relationships/slide" Target="/ppt/slides/slide9.xml" Id="Rc8db5e374ec24409" /><Relationship Type="http://schemas.openxmlformats.org/officeDocument/2006/relationships/slide" Target="/ppt/slides/slide10.xml" Id="R607d8470bb33458a" /><Relationship Type="http://schemas.openxmlformats.org/officeDocument/2006/relationships/slide" Target="/ppt/slides/slide11.xml" Id="R824954627eb6400d" /><Relationship Type="http://schemas.openxmlformats.org/officeDocument/2006/relationships/slide" Target="/ppt/slides/slide12.xml" Id="R120a0968cc2d4548" /><Relationship Type="http://schemas.openxmlformats.org/officeDocument/2006/relationships/slide" Target="/ppt/slides/slide13.xml" Id="Rf88821539db84b0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53f89dc2cd1471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cf9e59f15524afa" /><Relationship Type="http://schemas.openxmlformats.org/officeDocument/2006/relationships/notesMaster" Target="/ppt/notesMasters/notesMaster1.xml" Id="Rd4b0183b800f453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e76eda4465740b1" /><Relationship Type="http://schemas.openxmlformats.org/officeDocument/2006/relationships/notesMaster" Target="/ppt/notesMasters/notesMaster1.xml" Id="R16b137e7113b44c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29161cf32774c5e" /><Relationship Type="http://schemas.openxmlformats.org/officeDocument/2006/relationships/notesMaster" Target="/ppt/notesMasters/notesMaster1.xml" Id="R9e99622d60884b1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1c3c1067c2940e6" /><Relationship Type="http://schemas.openxmlformats.org/officeDocument/2006/relationships/notesMaster" Target="/ppt/notesMasters/notesMaster1.xml" Id="Rae19c1e11e2048c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52678d4421a4090" /><Relationship Type="http://schemas.openxmlformats.org/officeDocument/2006/relationships/notesMaster" Target="/ppt/notesMasters/notesMaster1.xml" Id="Rcde31bb669da431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15fe77aeefb4504" /><Relationship Type="http://schemas.openxmlformats.org/officeDocument/2006/relationships/notesMaster" Target="/ppt/notesMasters/notesMaster1.xml" Id="R8010a3e4cb974d9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bf18674854e4b04" /><Relationship Type="http://schemas.openxmlformats.org/officeDocument/2006/relationships/notesMaster" Target="/ppt/notesMasters/notesMaster1.xml" Id="R46572fb511464e7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7589ec2fb4a41cc" /><Relationship Type="http://schemas.openxmlformats.org/officeDocument/2006/relationships/notesMaster" Target="/ppt/notesMasters/notesMaster1.xml" Id="R9d251f3c074f4a7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651ff374b5c48c8" /><Relationship Type="http://schemas.openxmlformats.org/officeDocument/2006/relationships/notesMaster" Target="/ppt/notesMasters/notesMaster1.xml" Id="R1a0e9debb8ca42b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2ee60f9d6464879" /><Relationship Type="http://schemas.openxmlformats.org/officeDocument/2006/relationships/notesMaster" Target="/ppt/notesMasters/notesMaster1.xml" Id="Rfd6b5806daa145d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ddd4fac1bb64499" /><Relationship Type="http://schemas.openxmlformats.org/officeDocument/2006/relationships/notesMaster" Target="/ppt/notesMasters/notesMaster1.xml" Id="R94ca64eb35b0429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56e026f76104bfa" /><Relationship Type="http://schemas.openxmlformats.org/officeDocument/2006/relationships/notesMaster" Target="/ppt/notesMasters/notesMaster1.xml" Id="Rde845c904aff480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c75883928144010" /><Relationship Type="http://schemas.openxmlformats.org/officeDocument/2006/relationships/notesMaster" Target="/ppt/notesMasters/notesMaster1.xml" Id="Rc04e7523f5a547c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R2-93 repository: r2_pipeline.py</a:t>
            </a:r>
          </a:p>
          <a:p xmlns:a="http://schemas.openxmlformats.org/drawingml/2006/main">
            <a:r>
              <a:t>- R2-93 repository: build_phase93_end_to_end.py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R2-93 repository: README.md</a:t>
            </a:r>
          </a:p>
          <a:p xmlns:a="http://schemas.openxmlformats.org/drawingml/2006/main">
            <a:r>
              <a:t>- R2-93 repository: phase93_release_assets.json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R2-93 repository: r2_pipeline.py</a:t>
            </a:r>
          </a:p>
          <a:p xmlns:a="http://schemas.openxmlformats.org/drawingml/2006/main">
            <a:r>
              <a:t>- R2-93 repository: build_phase9_submission.py</a:t>
            </a:r>
          </a:p>
          <a:p xmlns:a="http://schemas.openxmlformats.org/drawingml/2006/main">
            <a:r>
              <a:t>- R2-93 repository: build_phase93_g56_antip10_plus_symmetric_clamp_submission.py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R2-93 repository: r2_pipeline.py</a:t>
            </a:r>
          </a:p>
          <a:p xmlns:a="http://schemas.openxmlformats.org/drawingml/2006/main">
            <a:r>
              <a:t>- R2-93 repository: matched_phase6_manifest.json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R2-93 repository: r2_pipeline.py, TEST_BLOCKS, make_block_split, score_numpy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R2-93 repository: r2_pipeline.py</a:t>
            </a:r>
          </a:p>
          <a:p xmlns:a="http://schemas.openxmlformats.org/drawingml/2006/main">
            <a:r>
              <a:t>- R2-93 repository: matched_phase5_tree_band_descriptor.py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R2-93 repository: r2_pipeline.py, generate_submission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R2-93 repository: matched_phase6_pas_fitted_canonical.py</a:t>
            </a:r>
          </a:p>
          <a:p xmlns:a="http://schemas.openxmlformats.org/drawingml/2006/main">
            <a:r>
              <a:t>- R2-93 repository: matched_phase6_pas_fitted_vertical.py</a:t>
            </a:r>
          </a:p>
          <a:p xmlns:a="http://schemas.openxmlformats.org/drawingml/2006/main">
            <a:r>
              <a:t>- R2-93 repository: matched_phase6_physics_combo_channel_validation.py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R2-93 repository: build_phase9_submission.py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R2-93 repository: phase10_pas_complement_anchor_confirmation.py</a:t>
            </a:r>
          </a:p>
          <a:p xmlns:a="http://schemas.openxmlformats.org/drawingml/2006/main">
            <a:r>
              <a:t>- R2-93 repository: build_phase40_p9_actual_antip10_pas050_submission.py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R2-93 repository: build_phase93_g56_antip10_plus_symmetric_clamp_submission.py</a:t>
            </a:r>
          </a:p>
          <a:p xmlns:a="http://schemas.openxmlformats.org/drawingml/2006/main">
            <a:r>
              <a:t>- R2-93 repository: phase93_g56_antip10_plus_symmetric_clamp_submission_manifest.json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R2-93 repository: build_phase93_end_to_end.py</a:t>
            </a:r>
          </a:p>
          <a:p xmlns:a="http://schemas.openxmlformats.org/drawingml/2006/main">
            <a:r>
              <a:t>- R2-93 repository: phase93_release_assets.json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R2-93 repository: phase93_g56_antip10_plus_symmetric_clamp_submission_manifest.json</a:t>
            </a:r>
          </a:p>
          <a:p xmlns:a="http://schemas.openxmlformats.org/drawingml/2006/main">
            <a:r>
              <a:t>- R2-93 repository: matched_phase6_manifest.json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7b6bd6f5ea34ce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35ac4bcb96a46b9" /><Relationship Type="http://schemas.openxmlformats.org/officeDocument/2006/relationships/slideLayout" Target="/ppt/slideLayouts/slideLayout1.xml" Id="Ra20379916d5a43a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20379916d5a43a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900e2546b14228" /><Relationship Type="http://schemas.openxmlformats.org/officeDocument/2006/relationships/notesSlide" Target="/ppt/notesSlides/notesSlide1.xml" Id="R34493ae13d4d499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87de39bef04cf8" /><Relationship Type="http://schemas.openxmlformats.org/officeDocument/2006/relationships/notesSlide" Target="/ppt/notesSlides/notesSlide2.xml" Id="R9591b4782b7d476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ac35299f074580" /><Relationship Type="http://schemas.openxmlformats.org/officeDocument/2006/relationships/notesSlide" Target="/ppt/notesSlides/notesSlide3.xml" Id="Ra85dddcfcce04fc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219a50f6c84781" /><Relationship Type="http://schemas.openxmlformats.org/officeDocument/2006/relationships/notesSlide" Target="/ppt/notesSlides/notesSlide4.xml" Id="Re7406fcd311f49d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5f32df73094a7b" /><Relationship Type="http://schemas.openxmlformats.org/officeDocument/2006/relationships/notesSlide" Target="/ppt/notesSlides/notesSlide5.xml" Id="Rf2b4d56f4d7c4f2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9d7f0b3c9444bd" /><Relationship Type="http://schemas.openxmlformats.org/officeDocument/2006/relationships/notesSlide" Target="/ppt/notesSlides/notesSlide6.xml" Id="R5edd883aae3a4d5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6756576ae94825" /><Relationship Type="http://schemas.openxmlformats.org/officeDocument/2006/relationships/notesSlide" Target="/ppt/notesSlides/notesSlide7.xml" Id="R3b4a750dcae84fd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52edb2131742a0" /><Relationship Type="http://schemas.openxmlformats.org/officeDocument/2006/relationships/notesSlide" Target="/ppt/notesSlides/notesSlide8.xml" Id="R7448e1f32d194de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00ccdd0757461d" /><Relationship Type="http://schemas.openxmlformats.org/officeDocument/2006/relationships/notesSlide" Target="/ppt/notesSlides/notesSlide9.xml" Id="R04cb821b1eb74e5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217b21fd484f51" /><Relationship Type="http://schemas.openxmlformats.org/officeDocument/2006/relationships/notesSlide" Target="/ppt/notesSlides/notesSlide10.xml" Id="R38286cc3811940a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c6cc7ed303413e" /><Relationship Type="http://schemas.openxmlformats.org/officeDocument/2006/relationships/notesSlide" Target="/ppt/notesSlides/notesSlide11.xml" Id="Rfa89167dea8f4b2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705b18e7d54657" /><Relationship Type="http://schemas.openxmlformats.org/officeDocument/2006/relationships/notesSlide" Target="/ppt/notesSlides/notesSlide12.xml" Id="Rfad8c4b981fd442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83c1f307ef47a5" /><Relationship Type="http://schemas.openxmlformats.org/officeDocument/2006/relationships/notesSlide" Target="/ppt/notesSlides/notesSlide13.xml" Id="R34b054b027e94d4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3E93B2-B6C8-4775-ADCC-03B0B0856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476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D96C32"/>
                </a:solidFill>
              </a:defRPr>
            </a:pPr>
            <a:r>
              <a:rPr sz="1125" b="1">
                <a:solidFill>
                  <a:srgbClr val="D96C32"/>
                </a:solidFill>
              </a:rPr>
              <a:t>ROUND2 / MODEL DEFENSE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C6681F-2CCD-46F0-9842-A4245DEF4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8572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800" b="1">
                <a:solidFill>
                  <a:srgbClr val="0B2545"/>
                </a:solidFill>
              </a:defRPr>
            </a:pPr>
            <a:r>
              <a:rPr sz="4800" b="1">
                <a:solidFill>
                  <a:srgbClr val="0B2545"/>
                </a:solidFill>
              </a:rPr>
              <a:t>Phase93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EC1855-26F4-41AF-A169-A4FBFF402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38375"/>
            <a:ext cx="933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E74B5"/>
                </a:solidFill>
              </a:defRPr>
            </a:pPr>
            <a:r>
              <a:rPr sz="2100" b="0">
                <a:solidFill>
                  <a:srgbClr val="2E74B5"/>
                </a:solidFill>
              </a:rPr>
              <a:t>从赛事原始数据到 500 点宽带复信道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8E9F3A-32D1-4C58-8ACC-412AA7EFD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05125"/>
            <a:ext cx="952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B6878"/>
                </a:solidFill>
              </a:defRPr>
            </a:pPr>
            <a:r>
              <a:rPr sz="1425" b="0">
                <a:solidFill>
                  <a:srgbClr val="5B6878"/>
                </a:solidFill>
              </a:rPr>
              <a:t>raw data → spectral descriptors → geometry model → Phase93 output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DC9704-8E01-49EF-B195-0E8E3F0CB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95750"/>
            <a:ext cx="7524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0B2545"/>
          </a:solidFill>
          <a:ln xmlns:a="http://schemas.openxmlformats.org/drawingml/2006/main" w="9525">
            <a:solidFill>
              <a:srgbClr val="0B254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003336-54DF-472E-8905-5ABD8D6B5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286250"/>
            <a:ext cx="152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D96C32"/>
                </a:solidFill>
              </a:defRPr>
            </a:pPr>
            <a:r>
              <a:rPr sz="1275" b="1">
                <a:solidFill>
                  <a:srgbClr val="D96C32"/>
                </a:solidFill>
              </a:rPr>
              <a:t>答辩主线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872092-0857-4007-967E-64D459337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591050"/>
            <a:ext cx="676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先重建空间结构，再用 PAS/PDP 投影生成可行复信道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83EDBA-0CF2-4661-A2C2-E659A0AB8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9239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5B6878"/>
                </a:solidFill>
              </a:defRPr>
            </a:pPr>
            <a:r>
              <a:rPr sz="825" b="0">
                <a:solidFill>
                  <a:srgbClr val="5B6878"/>
                </a:solidFill>
              </a:rPr>
              <a:t>[源码] r2_pipeline.py / build_phase93_end_to_end.py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796BA0-7AC0-45A0-B928-D54FA5BE1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96050"/>
            <a:ext cx="152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E74B5"/>
                </a:solidFill>
              </a:defRPr>
            </a:pPr>
            <a:r>
              <a:rPr sz="825" b="1">
                <a:solidFill>
                  <a:srgbClr val="2E74B5"/>
                </a:solidFill>
              </a:rPr>
              <a:t>ROUND2 / PHASE93</a:t>
            </a:r>
          </a:p>
        </p:txBody>
      </p:sp>
    </p:spTree>
    <p:extLst>
      <p:ext uri="{BB962C8B-B14F-4D97-AF65-F5344CB8AC3E}">
        <p14:creationId xmlns:p14="http://schemas.microsoft.com/office/powerpoint/2010/main" val="48779129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706E653-87D3-4C80-AE15-E12D82812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D96C32"/>
                </a:solidFill>
              </a:defRPr>
            </a:pPr>
            <a:r>
              <a:rPr sz="1050" b="1">
                <a:solidFill>
                  <a:srgbClr val="D96C32"/>
                </a:solidFill>
              </a:rPr>
              <a:t>01 / 严格定义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43637D-0C2B-4EF7-BDB7-7FB7A3481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B2545"/>
                </a:solidFill>
              </a:defRPr>
            </a:pPr>
            <a:r>
              <a:rPr sz="2850" b="1">
                <a:solidFill>
                  <a:srgbClr val="0B2545"/>
                </a:solidFill>
              </a:rPr>
              <a:t>端到端必须从三类赛事原始数组开始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12CD00-F3E4-4D13-94F1-2FFC1B0A7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1047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B6878"/>
                </a:solidFill>
              </a:defRPr>
            </a:pPr>
            <a:r>
              <a:rPr sz="1500" b="0">
                <a:solidFill>
                  <a:srgbClr val="5B6878"/>
                </a:solidFill>
              </a:rPr>
              <a:t>能量缓存和所有频谱特征都应由代码现场生成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8F74AA-0C63-42E6-87C4-A866AE78F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108204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0B2545"/>
          </a:solidFill>
          <a:ln xmlns:a="http://schemas.openxmlformats.org/drawingml/2006/main" w="9525">
            <a:solidFill>
              <a:srgbClr val="0B254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310CD2-A7EF-46D8-B80A-DC0DEDCC7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622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Train Channel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B22851-2810-4F61-BE39-2284DA853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670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E8EEF5"/>
                </a:solidFill>
              </a:defRPr>
            </a:pPr>
            <a:r>
              <a:rPr sz="1200" b="0">
                <a:solidFill>
                  <a:srgbClr val="E8EEF5"/>
                </a:solidFill>
              </a:rPr>
              <a:t>4000×256×4×192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F49706-9CCD-45A8-9C01-A0D6C39B2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3622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Train Position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3A470B-089F-46F6-AB18-BE96DB605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6670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E8EEF5"/>
                </a:solidFill>
              </a:defRPr>
            </a:pPr>
            <a:r>
              <a:rPr sz="1200" b="0">
                <a:solidFill>
                  <a:srgbClr val="E8EEF5"/>
                </a:solidFill>
              </a:rPr>
              <a:t>4000×3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6A99A0-C5CB-43F0-958F-ACD2C8EC0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3622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Test Position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3FAC04-7C49-400D-9B0F-2F8E3881D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6670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E8EEF5"/>
                </a:solidFill>
              </a:defRPr>
            </a:pPr>
            <a:r>
              <a:rPr sz="1200" b="0">
                <a:solidFill>
                  <a:srgbClr val="E8EEF5"/>
                </a:solidFill>
              </a:rPr>
              <a:t>500×3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CE08A1-E677-4902-BA21-5489C161B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10820400" cy="1638300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FFF2CC"/>
          </a:solidFill>
          <a:ln xmlns:a="http://schemas.openxmlformats.org/drawingml/2006/main" w="9525">
            <a:solidFill>
              <a:srgbClr val="E6C45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66A2B7-F7B9-4D2E-8559-781055440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5433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A94442"/>
                </a:solidFill>
              </a:defRPr>
            </a:pPr>
            <a:r>
              <a:rPr sz="1800" b="1">
                <a:solidFill>
                  <a:srgbClr val="A94442"/>
                </a:solidFill>
              </a:rPr>
              <a:t>当前仓库边界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BFB476-9706-4F5D-B5B7-0BE9012B2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62400"/>
            <a:ext cx="990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82433"/>
                </a:solidFill>
              </a:defRPr>
            </a:pPr>
            <a:r>
              <a:rPr sz="1575" b="1">
                <a:solidFill>
                  <a:srgbClr val="182433"/>
                </a:solidFill>
              </a:rPr>
              <a:t>build_phase93_end_to_end.py 仍要求 9 个 Release 派生数组。它可重建 P9→P10→Phase40→Phase93，</a:t>
            </a:r>
          </a:p>
          <a:p xmlns:a="http://schemas.openxmlformats.org/drawingml/2006/main">
            <a:pPr>
              <a:defRPr sz="1575" b="1">
                <a:solidFill>
                  <a:srgbClr val="182433"/>
                </a:solidFill>
              </a:defRPr>
            </a:pPr>
            <a:r>
              <a:rPr sz="1575" b="1">
                <a:solidFill>
                  <a:srgbClr val="182433"/>
                </a:solidFill>
              </a:rPr>
              <a:t>但还不是仅凭原始数据的 bitwise 端到端入口。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44AEF1-2F1B-4AF9-8CFD-BF9D36372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76250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B6878"/>
                </a:solidFill>
              </a:defRPr>
            </a:pPr>
            <a:r>
              <a:rPr sz="1275" b="0">
                <a:solidFill>
                  <a:srgbClr val="5B6878"/>
                </a:solidFill>
              </a:rPr>
              <a:t>说明材料将算法链与当前工程缺口同时披露。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4F6D98-64F9-4243-88E2-C966FFDA8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9239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5B6878"/>
                </a:solidFill>
              </a:defRPr>
            </a:pPr>
            <a:r>
              <a:rPr sz="825" b="0">
                <a:solidFill>
                  <a:srgbClr val="5B6878"/>
                </a:solidFill>
              </a:rPr>
              <a:t>[源码] README.md / build_phase93_end_to_end.py / phase93_release_assets.json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0992552-2F63-41BF-A073-D0A83ED73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96050"/>
            <a:ext cx="152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E74B5"/>
                </a:solidFill>
              </a:defRPr>
            </a:pPr>
            <a:r>
              <a:rPr sz="825" b="1">
                <a:solidFill>
                  <a:srgbClr val="2E74B5"/>
                </a:solidFill>
              </a:rPr>
              <a:t>ROUND2 / PHASE93</a:t>
            </a:r>
          </a:p>
        </p:txBody>
      </p:sp>
    </p:spTree>
    <p:extLst>
      <p:ext uri="{BB962C8B-B14F-4D97-AF65-F5344CB8AC3E}">
        <p14:creationId xmlns:p14="http://schemas.microsoft.com/office/powerpoint/2010/main" val="1729645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CFA136-BDCE-4AB2-B502-2FFB77720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D96C32"/>
                </a:solidFill>
              </a:defRPr>
            </a:pPr>
            <a:r>
              <a:rPr sz="1050" b="1">
                <a:solidFill>
                  <a:srgbClr val="D96C32"/>
                </a:solidFill>
              </a:rPr>
              <a:t>02 / 全链路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1EFA65-F07A-4D8B-856A-FF21500F7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B2545"/>
                </a:solidFill>
              </a:defRPr>
            </a:pPr>
            <a:r>
              <a:rPr sz="2850" b="1">
                <a:solidFill>
                  <a:srgbClr val="0B2545"/>
                </a:solidFill>
              </a:rPr>
              <a:t>Phase93 是一条从原始信道到复数张量的确定性链路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2F450A-4C7F-47B5-B522-D629C5005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1047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B6878"/>
                </a:solidFill>
              </a:defRPr>
            </a:pPr>
            <a:r>
              <a:rPr sz="1500" b="0">
                <a:solidFill>
                  <a:srgbClr val="5B6878"/>
                </a:solidFill>
              </a:rPr>
              <a:t>空间模型提出功率目标，频谱投影把目标落到复信道可行域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E15D8C-108D-4374-B080-6713FD56E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52700"/>
            <a:ext cx="15240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0B2545"/>
          </a:solidFill>
          <a:ln xmlns:a="http://schemas.openxmlformats.org/drawingml/2006/main" w="9525">
            <a:solidFill>
              <a:srgbClr val="0B254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80773C-5BBA-45C9-BB1E-2A92CB2E9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24150"/>
            <a:ext cx="1295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原始数据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38DF68-B500-4D0B-9A78-35204AC65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76575"/>
            <a:ext cx="1295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H_train / positions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68966C-F7DC-474D-A2B3-F6BEBA638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85750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D96C32"/>
                </a:solidFill>
              </a:defRPr>
            </a:pPr>
            <a:r>
              <a:rPr sz="2250" b="1">
                <a:solidFill>
                  <a:srgbClr val="D96C32"/>
                </a:solidFill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408B4E-5B1B-4620-A76E-BE172FBFB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552700"/>
            <a:ext cx="15240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2E74B5"/>
          </a:solidFill>
          <a:ln xmlns:a="http://schemas.openxmlformats.org/drawingml/2006/main" w="9525">
            <a:solidFill>
              <a:srgbClr val="2E74B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0D4716-DFFA-44DB-9FA3-23665FEF4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724150"/>
            <a:ext cx="1295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清洗与验证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021D26-7D8D-429E-B989-9E7A2EE61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076575"/>
            <a:ext cx="1295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outlier / rectangles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59361C-B24A-4A82-A721-D6C390AA1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85750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D96C32"/>
                </a:solidFill>
              </a:defRPr>
            </a:pPr>
            <a:r>
              <a:rPr sz="2250" b="1">
                <a:solidFill>
                  <a:srgbClr val="D96C32"/>
                </a:solidFill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4A74DB-5FA8-4EDA-AD02-A30BC2D8B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552700"/>
            <a:ext cx="15240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1E88A8"/>
          </a:solidFill>
          <a:ln xmlns:a="http://schemas.openxmlformats.org/drawingml/2006/main" w="9525">
            <a:solidFill>
              <a:srgbClr val="1E88A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1AF21D-6FB3-48B7-A219-71D44C30F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724150"/>
            <a:ext cx="1295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基础预测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21F840-9D80-41E2-BA5A-FD5A4D9C0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076575"/>
            <a:ext cx="1295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island KNN + projection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529096-2A95-4773-9F73-1C64BDE50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85750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D96C32"/>
                </a:solidFill>
              </a:defRPr>
            </a:pPr>
            <a:r>
              <a:rPr sz="2250" b="1">
                <a:solidFill>
                  <a:srgbClr val="D96C32"/>
                </a:solidFill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EE3CBA8-DC07-4054-B2ED-D9376456F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552700"/>
            <a:ext cx="15240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2F7D5A"/>
          </a:solidFill>
          <a:ln xmlns:a="http://schemas.openxmlformats.org/drawingml/2006/main" w="9525">
            <a:solidFill>
              <a:srgbClr val="2F7D5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C98423-2893-492D-B886-EB6FAE4FA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724150"/>
            <a:ext cx="1295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Phase6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4DCF658-8D93-4B4A-8E85-5EEE992C5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076575"/>
            <a:ext cx="1295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PCA/ET PAS physics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6E62A36-C453-4380-BDAC-DC1B18E59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85750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D96C32"/>
                </a:solidFill>
              </a:defRPr>
            </a:pPr>
            <a:r>
              <a:rPr sz="2250" b="1">
                <a:solidFill>
                  <a:srgbClr val="D96C32"/>
                </a:solidFill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C69D69B-766D-42A1-A432-32392FABF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552700"/>
            <a:ext cx="15240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D96C32"/>
          </a:solidFill>
          <a:ln xmlns:a="http://schemas.openxmlformats.org/drawingml/2006/main" w="9525">
            <a:solidFill>
              <a:srgbClr val="D96C3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1399F16-2B50-4EAC-8A76-C32920D4E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724150"/>
            <a:ext cx="1295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P9 / P10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1F3AA2C-F38B-482D-AE15-04ABF3D54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076575"/>
            <a:ext cx="1295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two frozen directions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89906CB-C5B0-415D-96C4-51A56E390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85750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D96C32"/>
                </a:solidFill>
              </a:defRPr>
            </a:pPr>
            <a:r>
              <a:rPr sz="2250" b="1">
                <a:solidFill>
                  <a:srgbClr val="D96C32"/>
                </a:solidFill>
              </a:rPr>
              <a:t>→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A1CD0D4-A631-4DAD-B980-A18C8ECD3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2552700"/>
            <a:ext cx="15240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0B2545"/>
          </a:solidFill>
          <a:ln xmlns:a="http://schemas.openxmlformats.org/drawingml/2006/main" w="9525">
            <a:solidFill>
              <a:srgbClr val="0B2545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75570B7-50E7-4324-8F4A-DD403992E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724150"/>
            <a:ext cx="1295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Phase93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17048CB-AD25-4C6C-8997-D8ED49D3F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76575"/>
            <a:ext cx="1295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g5/g6 + anti-P10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19ED3E7-BBD4-4B3F-B5C9-B4FBA6092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33875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2545"/>
                </a:solidFill>
              </a:defRPr>
            </a:pPr>
            <a:r>
              <a:rPr sz="2025" b="1">
                <a:solidFill>
                  <a:srgbClr val="0B2545"/>
                </a:solidFill>
              </a:rPr>
              <a:t>输出：500×256×4×192 complex64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6CE5730-7867-44F9-813D-6535F4257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10820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B6878"/>
                </a:solidFill>
              </a:defRPr>
            </a:pPr>
            <a:r>
              <a:rPr sz="1500" b="0">
                <a:solidFill>
                  <a:srgbClr val="5B6878"/>
                </a:solidFill>
              </a:rPr>
              <a:t>每一步都只使用训练真值；测试点只有坐标。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B7C7D54-32C6-441D-B1F7-8E1A38D75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9239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5B6878"/>
                </a:solidFill>
              </a:defRPr>
            </a:pPr>
            <a:r>
              <a:rPr sz="825" b="0">
                <a:solidFill>
                  <a:srgbClr val="5B6878"/>
                </a:solidFill>
              </a:rPr>
              <a:t>[源码] r2_pipeline.py / Phase6-P9-P10-Phase40-Phase93 builders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56EDACA-D5A8-4C51-9C3D-E22D485F3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96050"/>
            <a:ext cx="152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E74B5"/>
                </a:solidFill>
              </a:defRPr>
            </a:pPr>
            <a:r>
              <a:rPr sz="825" b="1">
                <a:solidFill>
                  <a:srgbClr val="2E74B5"/>
                </a:solidFill>
              </a:rPr>
              <a:t>ROUND2 / PHASE93</a:t>
            </a:r>
          </a:p>
        </p:txBody>
      </p:sp>
    </p:spTree>
    <p:extLst>
      <p:ext uri="{BB962C8B-B14F-4D97-AF65-F5344CB8AC3E}">
        <p14:creationId xmlns:p14="http://schemas.microsoft.com/office/powerpoint/2010/main" val="193214486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E9DD89F-E02D-4140-ACFE-C5AA00E56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D96C32"/>
                </a:solidFill>
              </a:defRPr>
            </a:pPr>
            <a:r>
              <a:rPr sz="1050" b="1">
                <a:solidFill>
                  <a:srgbClr val="D96C32"/>
                </a:solidFill>
              </a:rPr>
              <a:t>03 / 数据清洗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FDDF89-0424-4ED3-A132-22671BC71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B2545"/>
                </a:solidFill>
              </a:defRPr>
            </a:pPr>
            <a:r>
              <a:rPr sz="2850" b="1">
                <a:solidFill>
                  <a:srgbClr val="0B2545"/>
                </a:solidFill>
              </a:rPr>
              <a:t>全零信道点必须在建模前剔除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88D41F-59B7-4735-8B0D-1553B0D78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1047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B6878"/>
                </a:solidFill>
              </a:defRPr>
            </a:pPr>
            <a:r>
              <a:rPr sz="1500" b="0">
                <a:solidFill>
                  <a:srgbClr val="5B6878"/>
                </a:solidFill>
              </a:rPr>
              <a:t>262 个 outlier 不进入邻域、训练、锚点或验证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D2CD70-FDDC-4659-B3BA-A77C85C37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38375"/>
            <a:ext cx="485775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0B2545"/>
          </a:solidFill>
          <a:ln xmlns:a="http://schemas.openxmlformats.org/drawingml/2006/main" w="9525">
            <a:solidFill>
              <a:srgbClr val="0B254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918E38-E0E6-4D38-A638-D9376D602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5717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D96C32"/>
                </a:solidFill>
              </a:defRPr>
            </a:pPr>
            <a:r>
              <a:rPr sz="1875" b="1">
                <a:solidFill>
                  <a:srgbClr val="D96C32"/>
                </a:solidFill>
              </a:rPr>
              <a:t>能量判定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EA62C9-0E97-4F1C-BAF6-E965F24F9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190875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FFFFFF"/>
                </a:solidFill>
              </a:defRPr>
            </a:pPr>
            <a:r>
              <a:rPr sz="2325" b="1">
                <a:solidFill>
                  <a:srgbClr val="FFFFFF"/>
                </a:solidFill>
              </a:rPr>
              <a:t>Eᵢ = Σ |Hᵢ[a,u,f]|²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09783B-9119-4D90-BE48-FCD633111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000500"/>
            <a:ext cx="409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E8EEF5"/>
                </a:solidFill>
              </a:defRPr>
            </a:pPr>
            <a:r>
              <a:rPr sz="1650" b="1">
                <a:solidFill>
                  <a:srgbClr val="E8EEF5"/>
                </a:solidFill>
              </a:rPr>
              <a:t>Eᵢ = 0  →  outlier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052DFB-0AF5-4EDE-80C5-A9E4A9755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38375"/>
            <a:ext cx="531495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28E190-33C7-4B85-A1B8-DDC168DE9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71750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B2545"/>
                </a:solidFill>
              </a:defRPr>
            </a:pPr>
            <a:r>
              <a:rPr sz="1875" b="1">
                <a:solidFill>
                  <a:srgbClr val="0B2545"/>
                </a:solidFill>
              </a:rPr>
              <a:t>有效训练集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994FB1-230E-4C45-9962-7CBDC9B47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190875"/>
            <a:ext cx="4572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2E74B5"/>
                </a:solidFill>
              </a:defRPr>
            </a:pPr>
            <a:r>
              <a:rPr sz="2325" b="1">
                <a:solidFill>
                  <a:srgbClr val="2E74B5"/>
                </a:solidFill>
              </a:rPr>
              <a:t>4000  −  262  =  3738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3F23B1-3576-4766-859F-2751423FF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857625"/>
            <a:ext cx="19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D96C32"/>
                </a:solidFill>
              </a:defRPr>
            </a:pPr>
            <a:r>
              <a:rPr sz="1350" b="1">
                <a:solidFill>
                  <a:srgbClr val="D96C32"/>
                </a:solidFill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B44232-C679-4831-B8F7-ACC9D2001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857625"/>
            <a:ext cx="4019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82433"/>
                </a:solidFill>
              </a:defRPr>
            </a:pPr>
            <a:r>
              <a:rPr sz="1350" b="0">
                <a:solidFill>
                  <a:srgbClr val="182433"/>
                </a:solidFill>
              </a:rPr>
              <a:t>train_energy.npy 由原始信道计算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A1D922-8E69-43A7-8389-13906B1F5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200525"/>
            <a:ext cx="19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D96C32"/>
                </a:solidFill>
              </a:defRPr>
            </a:pPr>
            <a:r>
              <a:rPr sz="1350" b="1">
                <a:solidFill>
                  <a:srgbClr val="D96C32"/>
                </a:solidFill>
              </a:rPr>
              <a:t>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5E6879-8EE3-4674-9680-05CE15181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200525"/>
            <a:ext cx="4019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82433"/>
                </a:solidFill>
              </a:defRPr>
            </a:pPr>
            <a:r>
              <a:rPr sz="1350" b="0">
                <a:solidFill>
                  <a:srgbClr val="182433"/>
                </a:solidFill>
              </a:rPr>
              <a:t>按块读取，避免一次占满内存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F3381C-14C4-4F80-9863-F4772C845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543425"/>
            <a:ext cx="19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D96C32"/>
                </a:solidFill>
              </a:defRPr>
            </a:pPr>
            <a:r>
              <a:rPr sz="1350" b="1">
                <a:solidFill>
                  <a:srgbClr val="D96C32"/>
                </a:solidFill>
              </a:rPr>
              <a:t>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EDDCC3F-9C8C-4C64-B0B8-D2D8919F1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543425"/>
            <a:ext cx="4019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82433"/>
                </a:solidFill>
              </a:defRPr>
            </a:pPr>
            <a:r>
              <a:rPr sz="1350" b="0">
                <a:solidFill>
                  <a:srgbClr val="182433"/>
                </a:solidFill>
              </a:rPr>
              <a:t>测试输出仍要求每行非零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A2F319-9530-4DD4-B12E-61A970983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9239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5B6878"/>
                </a:solidFill>
              </a:defRPr>
            </a:pPr>
            <a:r>
              <a:rPr sz="825" b="0">
                <a:solidFill>
                  <a:srgbClr val="5B6878"/>
                </a:solidFill>
              </a:rPr>
              <a:t>[源码] r2_pipeline.load_data / matched_phase6_manifest.json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501AA0-EB79-4EDD-8C5E-AD1729273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96050"/>
            <a:ext cx="152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E74B5"/>
                </a:solidFill>
              </a:defRPr>
            </a:pPr>
            <a:r>
              <a:rPr sz="825" b="1">
                <a:solidFill>
                  <a:srgbClr val="2E74B5"/>
                </a:solidFill>
              </a:rPr>
              <a:t>ROUND2 / PHASE93</a:t>
            </a:r>
          </a:p>
        </p:txBody>
      </p:sp>
    </p:spTree>
    <p:extLst>
      <p:ext uri="{BB962C8B-B14F-4D97-AF65-F5344CB8AC3E}">
        <p14:creationId xmlns:p14="http://schemas.microsoft.com/office/powerpoint/2010/main" val="49189833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3BC4C3F-59C3-40A3-980E-1521382C4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D96C32"/>
                </a:solidFill>
              </a:defRPr>
            </a:pPr>
            <a:r>
              <a:rPr sz="1050" b="1">
                <a:solidFill>
                  <a:srgbClr val="D96C32"/>
                </a:solidFill>
              </a:rPr>
              <a:t>04 / 验证设计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115AE9-59B5-49DA-9CCC-8480BF639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B2545"/>
                </a:solidFill>
              </a:defRPr>
            </a:pPr>
            <a:r>
              <a:rPr sz="2850" b="1">
                <a:solidFill>
                  <a:srgbClr val="0B2545"/>
                </a:solidFill>
              </a:rPr>
              <a:t>矩形空洞验证比随机切分更接近官方测试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77006B-7D26-4539-9E0A-BFF777FFD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1047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B6878"/>
                </a:solidFill>
              </a:defRPr>
            </a:pPr>
            <a:r>
              <a:rPr sz="1500" b="0">
                <a:solidFill>
                  <a:srgbClr val="5B6878"/>
                </a:solidFill>
              </a:rPr>
              <a:t>验证目标是测外推能力，而不是测被邻居包围的插值能力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4D6650-8180-4826-B0B7-93DDA84FE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4762500" cy="304800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691661-DADC-4244-8FAA-895D7634B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5745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2545"/>
                </a:solidFill>
              </a:defRPr>
            </a:pPr>
            <a:r>
              <a:rPr sz="1800" b="1">
                <a:solidFill>
                  <a:srgbClr val="0B2545"/>
                </a:solidFill>
              </a:rPr>
              <a:t>官方几何模拟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3FEAF3-BC33-4B11-9EF6-56E0C07EB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000375"/>
            <a:ext cx="19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D96C32"/>
                </a:solidFill>
              </a:defRPr>
            </a:pPr>
            <a:r>
              <a:rPr sz="1425" b="1">
                <a:solidFill>
                  <a:srgbClr val="D96C32"/>
                </a:solidFill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70CD9B-EFE2-46D6-A257-6A4ACEF88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000375"/>
            <a:ext cx="3733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82433"/>
                </a:solidFill>
              </a:defRPr>
            </a:pPr>
            <a:r>
              <a:rPr sz="1425" b="0">
                <a:solidFill>
                  <a:srgbClr val="182433"/>
                </a:solidFill>
              </a:rPr>
              <a:t>DBSCAN：eps=10，min_samples=3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23B91A-A9CA-4CA4-8845-28E195EC6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457575"/>
            <a:ext cx="19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D96C32"/>
                </a:solidFill>
              </a:defRPr>
            </a:pPr>
            <a:r>
              <a:rPr sz="1425" b="1">
                <a:solidFill>
                  <a:srgbClr val="D96C32"/>
                </a:solidFill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A01780-E734-435F-8BEF-F34952835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457575"/>
            <a:ext cx="3733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82433"/>
                </a:solidFill>
              </a:defRPr>
            </a:pPr>
            <a:r>
              <a:rPr sz="1425" b="0">
                <a:solidFill>
                  <a:srgbClr val="182433"/>
                </a:solidFill>
              </a:rPr>
              <a:t>宽/高/人口匹配测试矩形岛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2251C4-67DA-4EA7-82FD-AC13CF7E5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914775"/>
            <a:ext cx="19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D96C32"/>
                </a:solidFill>
              </a:defRPr>
            </a:pPr>
            <a:r>
              <a:rPr sz="1425" b="1">
                <a:solidFill>
                  <a:srgbClr val="D96C32"/>
                </a:solidFill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AE67B2-83A5-4EC5-8C91-2D18CCB0A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914775"/>
            <a:ext cx="3733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82433"/>
                </a:solidFill>
              </a:defRPr>
            </a:pPr>
            <a:r>
              <a:rPr sz="1425" b="0">
                <a:solidFill>
                  <a:srgbClr val="182433"/>
                </a:solidFill>
              </a:rPr>
              <a:t>矩形外增加 3 m buffer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4672A6-F39E-48C8-9377-5FC1EE163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371975"/>
            <a:ext cx="19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D96C32"/>
                </a:solidFill>
              </a:defRPr>
            </a:pPr>
            <a:r>
              <a:rPr sz="1425" b="1">
                <a:solidFill>
                  <a:srgbClr val="D96C32"/>
                </a:solidFill>
              </a:rPr>
              <a:t>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59ED61-9209-4202-9948-6CCE35370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371975"/>
            <a:ext cx="3733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82433"/>
                </a:solidFill>
              </a:defRPr>
            </a:pPr>
            <a:r>
              <a:rPr sz="1425" b="0">
                <a:solidFill>
                  <a:srgbClr val="182433"/>
                </a:solidFill>
              </a:rPr>
              <a:t>固定种子构造 5 折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A31770E-4A04-45D2-9CB4-C362F31C0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190750"/>
            <a:ext cx="5410200" cy="304800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0B2545"/>
          </a:solidFill>
          <a:ln xmlns:a="http://schemas.openxmlformats.org/drawingml/2006/main" w="9525">
            <a:solidFill>
              <a:srgbClr val="0B254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FEE504-CB85-429E-8E25-22A1038C5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457450"/>
            <a:ext cx="4648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D96C32"/>
                </a:solidFill>
              </a:defRPr>
            </a:pPr>
            <a:r>
              <a:rPr sz="1800" b="1">
                <a:solidFill>
                  <a:srgbClr val="D96C32"/>
                </a:solidFill>
              </a:rPr>
              <a:t>评分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BD210D-2C29-4335-A21F-F0C941929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143250"/>
            <a:ext cx="4648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score = 0.4 Cₚₐₛ + 0.4 Cₚdₚ</a:t>
            </a:r>
          </a:p>
          <a:p xmlns:a="http://schemas.openxmlformats.org/drawingml/2006/main">
            <a:pPr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        + 0.2 / (1 + NMSE)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66DCE3C-86FD-427B-BE71-6D45390B6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476750"/>
            <a:ext cx="4648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E8EEF5"/>
                </a:solidFill>
              </a:defRPr>
            </a:pPr>
            <a:r>
              <a:rPr sz="1500" b="0">
                <a:solidFill>
                  <a:srgbClr val="E8EEF5"/>
                </a:solidFill>
              </a:rPr>
              <a:t>折内样本按官方各岛人口加权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B5AB34-D02D-4A97-BF66-B91FB01AA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9239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5B6878"/>
                </a:solidFill>
              </a:defRPr>
            </a:pPr>
            <a:r>
              <a:rPr sz="825" b="0">
                <a:solidFill>
                  <a:srgbClr val="5B6878"/>
                </a:solidFill>
              </a:rPr>
              <a:t>[源码] r2_pipeline.make_block_split / score_numpy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C72EDA-E4CF-4864-AFF2-B702D6F83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96050"/>
            <a:ext cx="152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E74B5"/>
                </a:solidFill>
              </a:defRPr>
            </a:pPr>
            <a:r>
              <a:rPr sz="825" b="1">
                <a:solidFill>
                  <a:srgbClr val="2E74B5"/>
                </a:solidFill>
              </a:rPr>
              <a:t>ROUND2 / PHASE93</a:t>
            </a:r>
          </a:p>
        </p:txBody>
      </p:sp>
    </p:spTree>
    <p:extLst>
      <p:ext uri="{BB962C8B-B14F-4D97-AF65-F5344CB8AC3E}">
        <p14:creationId xmlns:p14="http://schemas.microsoft.com/office/powerpoint/2010/main" val="172905985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1E659D-CBEF-477C-8CC1-AC48C0CC5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D96C32"/>
                </a:solidFill>
              </a:defRPr>
            </a:pPr>
            <a:r>
              <a:rPr sz="1050" b="1">
                <a:solidFill>
                  <a:srgbClr val="D96C32"/>
                </a:solidFill>
              </a:rPr>
              <a:t>05 / 监督表征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AE7379-18E1-4C19-8F0D-096FF25E0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B2545"/>
                </a:solidFill>
              </a:defRPr>
            </a:pPr>
            <a:r>
              <a:rPr sz="2850" b="1">
                <a:solidFill>
                  <a:srgbClr val="0B2545"/>
                </a:solidFill>
              </a:rPr>
              <a:t>模型学习的是 PAS/PDP 结构，再回复数信道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02F9A9-355A-4B25-B93A-3EF4B6216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1047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B6878"/>
                </a:solidFill>
              </a:defRPr>
            </a:pPr>
            <a:r>
              <a:rPr sz="1500" b="0">
                <a:solidFill>
                  <a:srgbClr val="5B6878"/>
                </a:solidFill>
              </a:rPr>
              <a:t>把不可预测的逐点相位问题转成可学习的角度与时延功率问题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C61017-1299-4549-9EF7-220D903BC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495300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1E88A8"/>
          </a:solidFill>
          <a:ln xmlns:a="http://schemas.openxmlformats.org/drawingml/2006/main" w="9525">
            <a:solidFill>
              <a:srgbClr val="1E88A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1716A9-F36C-4094-87DC-210193FAE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7650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PAS：阵列角度功率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D69676-7D80-4F81-8DD8-46B7B3348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000375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256 = 2 极化 × 16 H × 8 V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52D7B7-643B-43BB-A5CE-D2A2F582D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476625"/>
            <a:ext cx="4095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A = FFT2ᴮˢ(H)</a:t>
            </a:r>
          </a:p>
          <a:p xmlns:a="http://schemas.openxmlformats.org/drawingml/2006/main">
            <a:pPr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PAS₁₉₂ = |A|² / ‖|A|²‖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507723-7DF4-4589-8D94-8EC6A859F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6672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E8EEF5"/>
                </a:solidFill>
              </a:defRPr>
            </a:pPr>
            <a:r>
              <a:rPr sz="1425" b="0">
                <a:solidFill>
                  <a:srgbClr val="E8EEF5"/>
                </a:solidFill>
              </a:rPr>
              <a:t>192 子载波 → 24 bands × 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34C079-BDCF-457C-83CD-69A87572D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90750"/>
            <a:ext cx="53149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D96C32"/>
          </a:solidFill>
          <a:ln xmlns:a="http://schemas.openxmlformats.org/drawingml/2006/main" w="9525">
            <a:solidFill>
              <a:srgbClr val="D96C3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0AA457-3F70-4E58-A5DE-8223E1AD1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476500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PDP：时延功率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34391C-30AE-4C02-9F0E-1CF71EC1C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00375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沿 192 个子载波做正交 FFT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E9D192-815D-461B-9E60-58C35FE07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476625"/>
            <a:ext cx="4572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D = FFTᶠ(H)</a:t>
            </a:r>
          </a:p>
          <a:p xmlns:a="http://schemas.openxmlformats.org/drawingml/2006/main">
            <a:pPr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PDP₁₉₂ = |D|² / ‖|D|²‖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F728BC0-1B5B-4AF9-90B9-178C3451D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667250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FFFFFF"/>
                </a:solidFill>
              </a:defRPr>
            </a:pPr>
            <a:r>
              <a:rPr sz="1425" b="0">
                <a:solidFill>
                  <a:srgbClr val="FFFFFF"/>
                </a:solidFill>
              </a:rPr>
              <a:t>PAS/PDP 都用余弦相似度评分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EBD8CC-01D9-4BC2-97DA-A5E101D80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9239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5B6878"/>
                </a:solidFill>
              </a:defRPr>
            </a:pPr>
            <a:r>
              <a:rPr sz="825" b="0">
                <a:solidFill>
                  <a:srgbClr val="5B6878"/>
                </a:solidFill>
              </a:rPr>
              <a:t>[源码] r2_pipeline.bs_fft_torch / matched_phase5_tree_band_descriptor.py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33E6BA-CC70-4776-9DAC-2725CC4E5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96050"/>
            <a:ext cx="152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E74B5"/>
                </a:solidFill>
              </a:defRPr>
            </a:pPr>
            <a:r>
              <a:rPr sz="825" b="1">
                <a:solidFill>
                  <a:srgbClr val="2E74B5"/>
                </a:solidFill>
              </a:rPr>
              <a:t>ROUND2 / PHASE93</a:t>
            </a:r>
          </a:p>
        </p:txBody>
      </p:sp>
    </p:spTree>
    <p:extLst>
      <p:ext uri="{BB962C8B-B14F-4D97-AF65-F5344CB8AC3E}">
        <p14:creationId xmlns:p14="http://schemas.microsoft.com/office/powerpoint/2010/main" val="57717137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1E02AF-6ACD-44F1-A6F9-CF13596E6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D96C32"/>
                </a:solidFill>
              </a:defRPr>
            </a:pPr>
            <a:r>
              <a:rPr sz="1050" b="1">
                <a:solidFill>
                  <a:srgbClr val="D96C32"/>
                </a:solidFill>
              </a:rPr>
              <a:t>06 / 基础预测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5159DB-C637-4287-BAC0-D227D2775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B2545"/>
                </a:solidFill>
              </a:defRPr>
            </a:pPr>
            <a:r>
              <a:rPr sz="2850" b="1">
                <a:solidFill>
                  <a:srgbClr val="0B2545"/>
                </a:solidFill>
              </a:rPr>
              <a:t>每个矩形岛独立选择 PAS 与 PDP 邻域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DCFD07-268F-4F38-AD9B-0ABBFF3B3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1047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B6878"/>
                </a:solidFill>
              </a:defRPr>
            </a:pPr>
            <a:r>
              <a:rPr sz="1500" b="0">
                <a:solidFill>
                  <a:srgbClr val="5B6878"/>
                </a:solidFill>
              </a:rPr>
              <a:t>空间邻域决定目标形状，交替投影生成同时满足两类约束的复信道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05B3BE-EE21-420B-8FA8-D99446694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108204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0B2545"/>
          </a:solidFill>
          <a:ln xmlns:a="http://schemas.openxmlformats.org/drawingml/2006/main" w="9525">
            <a:solidFill>
              <a:srgbClr val="0B254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92CF06-09AF-41AC-95F9-617531A95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33625"/>
            <a:ext cx="1019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cKDTree → 分岛参数 → PAS/PDP 双邻域 → IDW/仿射/二次/harmonic 权重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D9A635-4A0E-4594-9ABA-A51E45E83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290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2E74B5"/>
                </a:solidFill>
              </a:defRPr>
            </a:pPr>
            <a:r>
              <a:rPr sz="1575" b="1">
                <a:solidFill>
                  <a:srgbClr val="2E74B5"/>
                </a:solidFill>
              </a:rPr>
              <a:t>① 最多 384 候选邻居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E0B756-5EFB-4280-AF7F-1E0EE03C1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4290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E88A8"/>
                </a:solidFill>
              </a:defRPr>
            </a:pPr>
            <a:r>
              <a:rPr sz="1575" b="1">
                <a:solidFill>
                  <a:srgbClr val="1E88A8"/>
                </a:solidFill>
              </a:rPr>
              <a:t>② 聚合目标 PAS/PDP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C12E0F-BCBA-4B72-BFC5-0547E59BF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4290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D96C32"/>
                </a:solidFill>
              </a:defRPr>
            </a:pPr>
            <a:r>
              <a:rPr sz="1575" b="1">
                <a:solidFill>
                  <a:srgbClr val="D96C32"/>
                </a:solidFill>
              </a:rPr>
              <a:t>③ 初值：最近邻/加权和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2D5953-B8F5-4006-BB42-9AB1153B2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4290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B2545"/>
                </a:solidFill>
              </a:defRPr>
            </a:pPr>
            <a:r>
              <a:rPr sz="1575" b="1">
                <a:solidFill>
                  <a:srgbClr val="0B2545"/>
                </a:solidFill>
              </a:rPr>
              <a:t>④ FFT↔IFFT 交替投影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4A42A3-CF4D-4D9B-BF87-A45503EDA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9575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82433"/>
                </a:solidFill>
              </a:defRPr>
            </a:pPr>
            <a:r>
              <a:rPr sz="1500" b="0">
                <a:solidFill>
                  <a:srgbClr val="182433"/>
                </a:solidFill>
              </a:rPr>
              <a:t>wⱼ ∝ 1 / max(dⱼ, 0.25)ᵖ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27C539-D33B-420B-B090-D295EA154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09575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82433"/>
                </a:solidFill>
              </a:defRPr>
            </a:pPr>
            <a:r>
              <a:rPr sz="1500" b="0">
                <a:solidFill>
                  <a:srgbClr val="182433"/>
                </a:solidFill>
              </a:rPr>
              <a:t>不同岛可用不同 k 与 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BA2E72-2AC1-4BAA-9073-D0F627A0D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09575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82433"/>
                </a:solidFill>
              </a:defRPr>
            </a:pPr>
            <a:r>
              <a:rPr sz="1500" b="0">
                <a:solidFill>
                  <a:srgbClr val="182433"/>
                </a:solidFill>
              </a:rPr>
              <a:t>相位沿初值连续保留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99E1B2-E629-4BCB-89A5-97DD4EE92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409575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82433"/>
                </a:solidFill>
              </a:defRPr>
            </a:pPr>
            <a:r>
              <a:rPr sz="1500" b="0">
                <a:solidFill>
                  <a:srgbClr val="182433"/>
                </a:solidFill>
              </a:rPr>
              <a:t>最终按邻居能量定标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5A9659-8D5F-44DE-B647-9F0026E1D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9239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5B6878"/>
                </a:solidFill>
              </a:defRPr>
            </a:pPr>
            <a:r>
              <a:rPr sz="825" b="0">
                <a:solidFill>
                  <a:srgbClr val="5B6878"/>
                </a:solidFill>
              </a:rPr>
              <a:t>[源码] r2_pipeline.generate_submission / project_spectra_gpu_dual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F26E2F-63DE-434B-927E-D6F8F8B28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96050"/>
            <a:ext cx="152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E74B5"/>
                </a:solidFill>
              </a:defRPr>
            </a:pPr>
            <a:r>
              <a:rPr sz="825" b="1">
                <a:solidFill>
                  <a:srgbClr val="2E74B5"/>
                </a:solidFill>
              </a:rPr>
              <a:t>ROUND2 / PHASE93</a:t>
            </a:r>
          </a:p>
        </p:txBody>
      </p:sp>
    </p:spTree>
    <p:extLst>
      <p:ext uri="{BB962C8B-B14F-4D97-AF65-F5344CB8AC3E}">
        <p14:creationId xmlns:p14="http://schemas.microsoft.com/office/powerpoint/2010/main" val="149408927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B54710C-41F9-4C70-A151-FB42BE612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D96C32"/>
                </a:solidFill>
              </a:defRPr>
            </a:pPr>
            <a:r>
              <a:rPr sz="1050" b="1">
                <a:solidFill>
                  <a:srgbClr val="D96C32"/>
                </a:solidFill>
              </a:rPr>
              <a:t>07 / PHASE6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462571-B2DF-43A2-B48A-4529CFEA4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B2545"/>
                </a:solidFill>
              </a:defRPr>
            </a:pPr>
            <a:r>
              <a:rPr sz="2850" b="1">
                <a:solidFill>
                  <a:srgbClr val="0B2545"/>
                </a:solidFill>
              </a:rPr>
              <a:t>Phase6 用物理对齐与树模型提升 24-band PAS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023ED3-79BB-414E-89C6-EE779A4FD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1047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B6878"/>
                </a:solidFill>
              </a:defRPr>
            </a:pPr>
            <a:r>
              <a:rPr sz="1500" b="0">
                <a:solidFill>
                  <a:srgbClr val="5B6878"/>
                </a:solidFill>
              </a:rPr>
              <a:t>这是 P9 和 Phase10 的共同底座，也是最终结构的主要来源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AEBFA1-B404-4B44-A78E-CC5DCB2CF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108204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0B2545"/>
          </a:solidFill>
          <a:ln xmlns:a="http://schemas.openxmlformats.org/drawingml/2006/main" w="9525">
            <a:solidFill>
              <a:srgbClr val="0B254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9ED60E-A79D-4C62-AC02-8E63C582B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00300"/>
            <a:ext cx="10191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方向标准化 → 水平/垂直循环对齐 → sqrt(PAS) PCA → ExtraTrees → 物理组合目标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051ABD-22F8-4154-9187-F52727E03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4953000" cy="1762125"/>
          </a:xfrm>
          <a:prstGeom xmlns:a="http://schemas.openxmlformats.org/drawingml/2006/main" prst="roundRect">
            <a:avLst>
              <a:gd name="adj" fmla="val 43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905B60-DC46-4A5B-92A3-28D63749F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638550"/>
            <a:ext cx="19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D96C32"/>
                </a:solidFill>
              </a:defRPr>
            </a:pPr>
            <a:r>
              <a:rPr sz="1425" b="1">
                <a:solidFill>
                  <a:srgbClr val="D96C32"/>
                </a:solidFill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F06030-02E5-4C7F-97FF-5EC5C919E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638550"/>
            <a:ext cx="3829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82433"/>
                </a:solidFill>
              </a:defRPr>
            </a:pPr>
            <a:r>
              <a:rPr sz="1425" b="0">
                <a:solidFill>
                  <a:srgbClr val="182433"/>
                </a:solidFill>
              </a:rPr>
              <a:t>PCA rank = 160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E08BB9-671F-48EE-846D-E06D39710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038600"/>
            <a:ext cx="19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D96C32"/>
                </a:solidFill>
              </a:defRPr>
            </a:pPr>
            <a:r>
              <a:rPr sz="1425" b="1">
                <a:solidFill>
                  <a:srgbClr val="D96C32"/>
                </a:solidFill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D3ECBF-BBE3-48D2-BBB2-1AF979867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038600"/>
            <a:ext cx="3829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82433"/>
                </a:solidFill>
              </a:defRPr>
            </a:pPr>
            <a:r>
              <a:rPr sz="1425" b="0">
                <a:solidFill>
                  <a:srgbClr val="182433"/>
                </a:solidFill>
              </a:rPr>
              <a:t>ExtraTrees 约 420–500 棵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EC5338-7DB6-4BF2-8E53-267FB73B7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438650"/>
            <a:ext cx="19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D96C32"/>
                </a:solidFill>
              </a:defRPr>
            </a:pPr>
            <a:r>
              <a:rPr sz="1425" b="1">
                <a:solidFill>
                  <a:srgbClr val="D96C32"/>
                </a:solidFill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F96322-F43E-4EFC-8CB6-A7D26F9AC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438650"/>
            <a:ext cx="3829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82433"/>
                </a:solidFill>
              </a:defRPr>
            </a:pPr>
            <a:r>
              <a:rPr sz="1425" b="0">
                <a:solidFill>
                  <a:srgbClr val="182433"/>
                </a:solidFill>
              </a:rPr>
              <a:t>位置 + BS 方向 + LOS/rich-map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AA1E14-5D85-4AF9-B5E0-650CA302B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33750"/>
            <a:ext cx="5314950" cy="1762125"/>
          </a:xfrm>
          <a:prstGeom xmlns:a="http://schemas.openxmlformats.org/drawingml/2006/main" prst="roundRect">
            <a:avLst>
              <a:gd name="adj" fmla="val 4324"/>
            </a:avLst>
          </a:prstGeom>
          <a:solidFill xmlns:a="http://schemas.openxmlformats.org/drawingml/2006/main">
            <a:srgbClr val="1E88A8"/>
          </a:solidFill>
          <a:ln xmlns:a="http://schemas.openxmlformats.org/drawingml/2006/main" w="9525">
            <a:solidFill>
              <a:srgbClr val="1E88A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4BA8EC-7EAE-4E51-B1C7-D8D95259F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638550"/>
            <a:ext cx="457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复信道物理投影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32C76F8-60C5-420B-A7E1-2E2A2A6A6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48125"/>
            <a:ext cx="4572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FFFFFF"/>
                </a:solidFill>
              </a:defRPr>
            </a:pPr>
            <a:r>
              <a:rPr sz="1575" b="0">
                <a:solidFill>
                  <a:srgbClr val="FFFFFF"/>
                </a:solidFill>
              </a:rPr>
              <a:t>PAS scale = 1.25</a:t>
            </a:r>
          </a:p>
          <a:p xmlns:a="http://schemas.openxmlformats.org/drawingml/2006/main">
            <a:pPr>
              <a:defRPr sz="1575" b="0">
                <a:solidFill>
                  <a:srgbClr val="FFFFFF"/>
                </a:solidFill>
              </a:defRPr>
            </a:pPr>
            <a:r>
              <a:rPr sz="1575" b="0">
                <a:solidFill>
                  <a:srgbClr val="FFFFFF"/>
                </a:solidFill>
              </a:rPr>
              <a:t>PDP correction power = 1.5</a:t>
            </a:r>
          </a:p>
          <a:p xmlns:a="http://schemas.openxmlformats.org/drawingml/2006/main">
            <a:pPr>
              <a:defRPr sz="1575" b="0">
                <a:solidFill>
                  <a:srgbClr val="FFFFFF"/>
                </a:solidFill>
              </a:defRPr>
            </a:pPr>
            <a:r>
              <a:rPr sz="1575" b="0">
                <a:solidFill>
                  <a:srgbClr val="FFFFFF"/>
                </a:solidFill>
              </a:rPr>
              <a:t>iterations = 12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D569D26-4473-4CDE-8E63-66416E9D9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9239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5B6878"/>
                </a:solidFill>
              </a:defRPr>
            </a:pPr>
            <a:r>
              <a:rPr sz="825" b="0">
                <a:solidFill>
                  <a:srgbClr val="5B6878"/>
                </a:solidFill>
              </a:rPr>
              <a:t>[源码] matched_phase6_pas_fitted_canonical.py / matched_phase6_physics_combo_channel_validation.py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2E02B14-A4B1-47E0-AA95-5D0AA2300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96050"/>
            <a:ext cx="152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E74B5"/>
                </a:solidFill>
              </a:defRPr>
            </a:pPr>
            <a:r>
              <a:rPr sz="825" b="1">
                <a:solidFill>
                  <a:srgbClr val="2E74B5"/>
                </a:solidFill>
              </a:rPr>
              <a:t>ROUND2 / PHASE93</a:t>
            </a:r>
          </a:p>
        </p:txBody>
      </p:sp>
    </p:spTree>
    <p:extLst>
      <p:ext uri="{BB962C8B-B14F-4D97-AF65-F5344CB8AC3E}">
        <p14:creationId xmlns:p14="http://schemas.microsoft.com/office/powerpoint/2010/main" val="145211324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372DD9-0601-4BFB-A1BA-1E8D59BCE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D96C32"/>
                </a:solidFill>
              </a:defRPr>
            </a:pPr>
            <a:r>
              <a:rPr sz="1050" b="1">
                <a:solidFill>
                  <a:srgbClr val="D96C32"/>
                </a:solidFill>
              </a:rPr>
              <a:t>08 / P9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D52D36-3396-4F7C-A3E2-9B0B86B96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B2545"/>
                </a:solidFill>
              </a:defRPr>
            </a:pPr>
            <a:r>
              <a:rPr sz="2850" b="1">
                <a:solidFill>
                  <a:srgbClr val="0B2545"/>
                </a:solidFill>
              </a:rPr>
              <a:t>P9 用矩形内训练锚点修正 Phase6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338F74-E03C-4E5D-B44B-76987BDCC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1047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B6878"/>
                </a:solidFill>
              </a:defRPr>
            </a:pPr>
            <a:r>
              <a:rPr sz="1500" b="0">
                <a:solidFill>
                  <a:srgbClr val="5B6878"/>
                </a:solidFill>
              </a:rPr>
              <a:t>锚点残差纠正系统偏差，门控模型只在有收益时增加局部成分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A63E4A-9A4F-4AD1-A631-3837118A8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5143500" cy="304800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A00656-E96C-4689-A185-87EFD5F9A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574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B2545"/>
                </a:solidFill>
              </a:defRPr>
            </a:pPr>
            <a:r>
              <a:rPr sz="1875" b="1">
                <a:solidFill>
                  <a:srgbClr val="0B2545"/>
                </a:solidFill>
              </a:rPr>
              <a:t>锚点与残差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6A64CF-AD9D-4F01-B8C3-ACA51F8D6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000375"/>
            <a:ext cx="19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D96C32"/>
                </a:solidFill>
              </a:defRPr>
            </a:pPr>
            <a:r>
              <a:rPr sz="1350" b="1">
                <a:solidFill>
                  <a:srgbClr val="D96C32"/>
                </a:solidFill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B0CBC7-F868-4422-A976-1F80C0EE2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000375"/>
            <a:ext cx="411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82433"/>
                </a:solidFill>
              </a:defRPr>
            </a:pPr>
            <a:r>
              <a:rPr sz="1350" b="0">
                <a:solidFill>
                  <a:srgbClr val="182433"/>
                </a:solidFill>
              </a:rPr>
              <a:t>PAS log residual clip [-2,2]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2F5DE6-BD69-4E08-8A3B-B150853E5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448050"/>
            <a:ext cx="19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D96C32"/>
                </a:solidFill>
              </a:defRPr>
            </a:pPr>
            <a:r>
              <a:rPr sz="1350" b="1">
                <a:solidFill>
                  <a:srgbClr val="D96C32"/>
                </a:solidFill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684CA8-20C8-4AA6-8218-7833770A4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448050"/>
            <a:ext cx="411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82433"/>
                </a:solidFill>
              </a:defRPr>
            </a:pPr>
            <a:r>
              <a:rPr sz="1350" b="0">
                <a:solidFill>
                  <a:srgbClr val="182433"/>
                </a:solidFill>
              </a:rPr>
              <a:t>PDP log residual clip [-2,2]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078701-28AA-4A25-A96C-2BDD286F4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895725"/>
            <a:ext cx="19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D96C32"/>
                </a:solidFill>
              </a:defRPr>
            </a:pPr>
            <a:r>
              <a:rPr sz="1350" b="1">
                <a:solidFill>
                  <a:srgbClr val="D96C32"/>
                </a:solidFill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852285-9481-4488-8CCC-39788CB13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895725"/>
            <a:ext cx="411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82433"/>
                </a:solidFill>
              </a:defRPr>
            </a:pPr>
            <a:r>
              <a:rPr sz="1350" b="0">
                <a:solidFill>
                  <a:srgbClr val="182433"/>
                </a:solidFill>
              </a:rPr>
              <a:t>岛内插值：PAS≤16，PDP≤4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09920F-518F-4DBE-8DF7-8A2AB974D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343400"/>
            <a:ext cx="19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D96C32"/>
                </a:solidFill>
              </a:defRPr>
            </a:pPr>
            <a:r>
              <a:rPr sz="1350" b="1">
                <a:solidFill>
                  <a:srgbClr val="D96C32"/>
                </a:solidFill>
              </a:rPr>
              <a:t>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39C495-C70B-4CF2-A0FF-FE906D0B9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343400"/>
            <a:ext cx="411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82433"/>
                </a:solidFill>
              </a:defRPr>
            </a:pPr>
            <a:r>
              <a:rPr sz="1350" b="0">
                <a:solidFill>
                  <a:srgbClr val="182433"/>
                </a:solidFill>
              </a:rPr>
              <a:t>局部 PAS：4 邻居，distance power=3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164CBA-3228-493F-9B7A-246B784B7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90750"/>
            <a:ext cx="5314950" cy="304800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0B2545"/>
          </a:solidFill>
          <a:ln xmlns:a="http://schemas.openxmlformats.org/drawingml/2006/main" w="9525">
            <a:solidFill>
              <a:srgbClr val="0B254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88138A-4D1C-46A9-BE89-8C71125A2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457450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D96C32"/>
                </a:solidFill>
              </a:defRPr>
            </a:pPr>
            <a:r>
              <a:rPr sz="1875" b="1">
                <a:solidFill>
                  <a:srgbClr val="D96C32"/>
                </a:solidFill>
              </a:rPr>
              <a:t>门控 + 联合投影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519726-C804-4E1F-8A53-F140EA78D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48000"/>
            <a:ext cx="4572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ExtraTrees: 500 trees</a:t>
            </a:r>
          </a:p>
          <a:p xmlns:a="http://schemas.openxmlformats.org/drawingml/2006/main">
            <a:pPr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leaf=80, max_features=0.7</a:t>
            </a:r>
          </a:p>
          <a:p xmlns:a="http://schemas.openxmlformats.org/drawingml/2006/main">
            <a:pPr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alpha ∈ [0,0.6]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0C4542C-7F97-4799-8EC4-7136C5708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333875"/>
            <a:ext cx="4572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E8EEF5"/>
                </a:solidFill>
              </a:defRPr>
            </a:pPr>
            <a:r>
              <a:rPr sz="1425" b="0">
                <a:solidFill>
                  <a:srgbClr val="E8EEF5"/>
                </a:solidFill>
              </a:rPr>
              <a:t>PAS residual α=0.15  ·  PDP residual α=0.025</a:t>
            </a:r>
          </a:p>
          <a:p xmlns:a="http://schemas.openxmlformats.org/drawingml/2006/main">
            <a:pPr>
              <a:defRPr sz="1425" b="0">
                <a:solidFill>
                  <a:srgbClr val="E8EEF5"/>
                </a:solidFill>
              </a:defRPr>
            </a:pPr>
            <a:r>
              <a:rPr sz="1425" b="0">
                <a:solidFill>
                  <a:srgbClr val="E8EEF5"/>
                </a:solidFill>
              </a:rPr>
              <a:t>12 次 PAS/PDP 交替投影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7DEAE4-B30B-48D3-9884-18E9090B6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9239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5B6878"/>
                </a:solidFill>
              </a:defRPr>
            </a:pPr>
            <a:r>
              <a:rPr sz="825" b="0">
                <a:solidFill>
                  <a:srgbClr val="5B6878"/>
                </a:solidFill>
              </a:rPr>
              <a:t>[源码] build_phase9_submission.py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8774FB-A0CD-4381-AFE6-27FB14274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96050"/>
            <a:ext cx="152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E74B5"/>
                </a:solidFill>
              </a:defRPr>
            </a:pPr>
            <a:r>
              <a:rPr sz="825" b="1">
                <a:solidFill>
                  <a:srgbClr val="2E74B5"/>
                </a:solidFill>
              </a:rPr>
              <a:t>ROUND2 / PHASE93</a:t>
            </a:r>
          </a:p>
        </p:txBody>
      </p:sp>
    </p:spTree>
    <p:extLst>
      <p:ext uri="{BB962C8B-B14F-4D97-AF65-F5344CB8AC3E}">
        <p14:creationId xmlns:p14="http://schemas.microsoft.com/office/powerpoint/2010/main" val="199131774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FEC1A2B-61FF-46DD-A286-1168D0F3E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D96C32"/>
                </a:solidFill>
              </a:defRPr>
            </a:pPr>
            <a:r>
              <a:rPr sz="1050" b="1">
                <a:solidFill>
                  <a:srgbClr val="D96C32"/>
                </a:solidFill>
              </a:rPr>
              <a:t>09 / P10 + PHASE40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AFBB9C-2E17-4864-A502-D22944727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B2545"/>
                </a:solidFill>
              </a:defRPr>
            </a:pPr>
            <a:r>
              <a:rPr sz="2850" b="1">
                <a:solidFill>
                  <a:srgbClr val="0B2545"/>
                </a:solidFill>
              </a:rPr>
              <a:t>P10 构造参照方向，Phase40 沿相反方向回调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5ACCBF-D26D-4566-87A6-688E7F46E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1047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B6878"/>
                </a:solidFill>
              </a:defRPr>
            </a:pPr>
            <a:r>
              <a:rPr sz="1500" b="0">
                <a:solidFill>
                  <a:srgbClr val="5B6878"/>
                </a:solidFill>
              </a:rPr>
              <a:t>P10 不是最终答案，而是 anti-P10 的冻结坐标轴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F0BF41-17B9-466F-93DF-52CACA57A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43125"/>
            <a:ext cx="495300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1E88A8"/>
          </a:solidFill>
          <a:ln xmlns:a="http://schemas.openxmlformats.org/drawingml/2006/main" w="9525">
            <a:solidFill>
              <a:srgbClr val="1E88A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7C2427-EF6E-4841-A545-34D0B0C8D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28875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FFFFF"/>
                </a:solidFill>
              </a:defRPr>
            </a:pPr>
            <a:r>
              <a:rPr sz="1950" b="1">
                <a:solidFill>
                  <a:srgbClr val="FFFFFF"/>
                </a:solidFill>
              </a:rPr>
              <a:t>Phase10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3AC337-C183-4F77-B2E3-E01A91F5F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000375"/>
            <a:ext cx="19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D96C32"/>
                </a:solidFill>
              </a:defRPr>
            </a:pPr>
            <a:r>
              <a:rPr sz="1350" b="1">
                <a:solidFill>
                  <a:srgbClr val="D96C32"/>
                </a:solidFill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A07A75-2B22-42CE-8132-C07042178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000375"/>
            <a:ext cx="3829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核心组 {1,3,4,9,10}: robust125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C5EF38-9C0C-4FB3-AB2F-3A2BDDCCF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409950"/>
            <a:ext cx="19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D96C32"/>
                </a:solidFill>
              </a:defRPr>
            </a:pPr>
            <a:r>
              <a:rPr sz="1350" b="1">
                <a:solidFill>
                  <a:srgbClr val="D96C32"/>
                </a:solidFill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2E94AC-32EA-437A-9CA6-F5F6D4FE6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409950"/>
            <a:ext cx="3829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补集组: graph/canonical/GP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2CF3C2-07D2-4821-B1A5-BBEC18162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819525"/>
            <a:ext cx="19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D96C32"/>
                </a:solidFill>
              </a:defRPr>
            </a:pPr>
            <a:r>
              <a:rPr sz="1350" b="1">
                <a:solidFill>
                  <a:srgbClr val="D96C32"/>
                </a:solidFill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EA7E8A-CA98-4969-AEFA-9F3E7FE50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819525"/>
            <a:ext cx="3829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组 4/5/10: primary-anchor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9EAA11-2F37-42D0-A351-65138B82F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229100"/>
            <a:ext cx="19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D96C32"/>
                </a:solidFill>
              </a:defRPr>
            </a:pPr>
            <a:r>
              <a:rPr sz="1350" b="1">
                <a:solidFill>
                  <a:srgbClr val="D96C32"/>
                </a:solidFill>
              </a:rPr>
              <a:t>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3D5019-21D2-46F7-B1B3-CF111E707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229100"/>
            <a:ext cx="3829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4 次投影；PAS ratio [0.25,4]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8BB539-9658-4965-B9EB-BA418EADF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638675"/>
            <a:ext cx="19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D96C32"/>
                </a:solidFill>
              </a:defRPr>
            </a:pPr>
            <a:r>
              <a:rPr sz="1350" b="1">
                <a:solidFill>
                  <a:srgbClr val="D96C32"/>
                </a:solidFill>
              </a:rPr>
              <a:t>•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2D5140-2226-4908-92FC-2F356924B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638675"/>
            <a:ext cx="3829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PDP 始终保持 Phase6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9124DB-3A94-4122-BA17-62F22A8F0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43125"/>
            <a:ext cx="53149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D96C32"/>
          </a:solidFill>
          <a:ln xmlns:a="http://schemas.openxmlformats.org/drawingml/2006/main" w="9525">
            <a:solidFill>
              <a:srgbClr val="D96C3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8CAC32B-8594-4C67-9A08-D22B9CE99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428875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FFFFF"/>
                </a:solidFill>
              </a:defRPr>
            </a:pPr>
            <a:r>
              <a:rPr sz="1950" b="1">
                <a:solidFill>
                  <a:srgbClr val="FFFFFF"/>
                </a:solidFill>
              </a:rPr>
              <a:t>Phase40 anti-P10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563F28F-EDEA-475B-8FAE-68F8958F3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143250"/>
            <a:ext cx="4572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d = clip(log((PAS₁₀+ε)/(PAS₉+ε)),−2,2)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1D23C30-B484-4564-B80D-5102EA712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857625"/>
            <a:ext cx="4572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PAS* = normalize(PAS × exp(−0.50d))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2BA1FF-D683-4A54-A661-113913364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572000"/>
            <a:ext cx="4572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24-band 目标重复到 192 子载波</a:t>
            </a:r>
          </a:p>
          <a:p xmlns:a="http://schemas.openxmlformats.org/drawingml/2006/main">
            <a:pPr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BS-FFT 幅度修正 → IFFT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841EB0F-C323-4093-8220-3800905A8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9239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5B6878"/>
                </a:solidFill>
              </a:defRPr>
            </a:pPr>
            <a:r>
              <a:rPr sz="825" b="0">
                <a:solidFill>
                  <a:srgbClr val="5B6878"/>
                </a:solidFill>
              </a:rPr>
              <a:t>[源码] phase10_pas_complement_anchor_confirmation.py / build_phase40_p9_actual_antip10_pas050_submission.py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170AA8A-D223-45D8-9E5B-921EF9F12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96050"/>
            <a:ext cx="152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E74B5"/>
                </a:solidFill>
              </a:defRPr>
            </a:pPr>
            <a:r>
              <a:rPr sz="825" b="1">
                <a:solidFill>
                  <a:srgbClr val="2E74B5"/>
                </a:solidFill>
              </a:rPr>
              <a:t>ROUND2 / PHASE93</a:t>
            </a:r>
          </a:p>
        </p:txBody>
      </p:sp>
    </p:spTree>
    <p:extLst>
      <p:ext uri="{BB962C8B-B14F-4D97-AF65-F5344CB8AC3E}">
        <p14:creationId xmlns:p14="http://schemas.microsoft.com/office/powerpoint/2010/main" val="65772366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64397C-4F1A-4A39-8702-80EF2B685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D96C32"/>
                </a:solidFill>
              </a:defRPr>
            </a:pPr>
            <a:r>
              <a:rPr sz="1050" b="1">
                <a:solidFill>
                  <a:srgbClr val="D96C32"/>
                </a:solidFill>
              </a:rPr>
              <a:t>10 / PHASE93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CA989F-7969-44CC-A0C2-BAC63DDF1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B2545"/>
                </a:solidFill>
              </a:defRPr>
            </a:pPr>
            <a:r>
              <a:rPr sz="2850" b="1">
                <a:solidFill>
                  <a:srgbClr val="0B2545"/>
                </a:solidFill>
              </a:rPr>
              <a:t>最终只对 g5/g6 增加 full-192 局部证据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EF499A-E4C4-49C2-8FFA-76005E8C8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1047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B6878"/>
                </a:solidFill>
              </a:defRPr>
            </a:pPr>
            <a:r>
              <a:rPr sz="1500" b="0">
                <a:solidFill>
                  <a:srgbClr val="5B6878"/>
                </a:solidFill>
              </a:rPr>
              <a:t>89 行被修正，其他 411 行与 Phase40 字节级一致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F8DE81-F571-4AA9-BCDA-E2C3D4E72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43125"/>
            <a:ext cx="58102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0B2545"/>
          </a:solidFill>
          <a:ln xmlns:a="http://schemas.openxmlformats.org/drawingml/2006/main" w="9525">
            <a:solidFill>
              <a:srgbClr val="0B254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5A614D-3284-492B-96A4-E4012E70D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28875"/>
            <a:ext cx="504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D96C32"/>
                </a:solidFill>
              </a:defRPr>
            </a:pPr>
            <a:r>
              <a:rPr sz="1950" b="1">
                <a:solidFill>
                  <a:srgbClr val="D96C32"/>
                </a:solidFill>
              </a:rPr>
              <a:t>g5/g6 full-192 anchor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3AAC71-8B62-4C50-A58E-EEEF7FA3B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048000"/>
            <a:ext cx="5048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训练锚点：g5=22，g6=42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4 邻居 · distance² · horizontal alignment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dose=0.20 · iterations=12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48D724-9EB3-4FE4-B1A1-50FE84894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476750"/>
            <a:ext cx="504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D96C32"/>
                </a:solidFill>
              </a:defRPr>
            </a:pPr>
            <a:r>
              <a:rPr sz="1350" b="1">
                <a:solidFill>
                  <a:srgbClr val="D96C32"/>
                </a:solidFill>
              </a:rPr>
              <a:t>PAS*₁₉₂ = normalize(0.80 PAS₉ + 0.20 PAS_anchor)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E3341A-CAC7-44E8-A7BD-74451CB69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143125"/>
            <a:ext cx="45529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C3DA63-8C3D-449C-9F6D-25C8A9F81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428875"/>
            <a:ext cx="381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B2545"/>
                </a:solidFill>
              </a:defRPr>
            </a:pPr>
            <a:r>
              <a:rPr sz="1950" b="1">
                <a:solidFill>
                  <a:srgbClr val="0B2545"/>
                </a:solidFill>
              </a:rPr>
              <a:t>clamp-floor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D3C2E1-2CE4-46E4-BEFD-E4E79B5BF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143250"/>
            <a:ext cx="381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E74B5"/>
                </a:solidFill>
              </a:defRPr>
            </a:pPr>
            <a:r>
              <a:rPr sz="1725" b="1">
                <a:solidFill>
                  <a:srgbClr val="2E74B5"/>
                </a:solidFill>
              </a:rPr>
              <a:t>q=min(q01(PAS),q01(PDP))</a:t>
            </a:r>
          </a:p>
          <a:p xmlns:a="http://schemas.openxmlformats.org/drawingml/2006/main">
            <a:pPr>
              <a:defRPr sz="1725" b="1">
                <a:solidFill>
                  <a:srgbClr val="2E74B5"/>
                </a:solidFill>
              </a:defRPr>
            </a:pPr>
            <a:r>
              <a:rPr sz="1725" b="1">
                <a:solidFill>
                  <a:srgbClr val="2E74B5"/>
                </a:solidFill>
              </a:rPr>
              <a:t>s=clip(sqrt(1e−15/q),1,5)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EBEDF2-ED12-4163-91D3-57F4EBA4D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286250"/>
            <a:ext cx="3810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82433"/>
                </a:solidFill>
              </a:defRPr>
            </a:pPr>
            <a:r>
              <a:rPr sz="1350" b="1">
                <a:solidFill>
                  <a:srgbClr val="182433"/>
                </a:solidFill>
              </a:rPr>
              <a:t>正式 manifest：2000/2000 分支 s=1</a:t>
            </a:r>
          </a:p>
          <a:p xmlns:a="http://schemas.openxmlformats.org/drawingml/2006/main">
            <a:pPr>
              <a:defRPr sz="1350" b="1">
                <a:solidFill>
                  <a:srgbClr val="182433"/>
                </a:solidFill>
              </a:defRPr>
            </a:pPr>
            <a:r>
              <a:rPr sz="1350" b="1">
                <a:solidFill>
                  <a:srgbClr val="182433"/>
                </a:solidFill>
              </a:rPr>
              <a:t>因此本次 clamp 实际未改动输出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5D9F78-7541-4213-8DC8-9F6648C70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9239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5B6878"/>
                </a:solidFill>
              </a:defRPr>
            </a:pPr>
            <a:r>
              <a:rPr sz="825" b="0">
                <a:solidFill>
                  <a:srgbClr val="5B6878"/>
                </a:solidFill>
              </a:rPr>
              <a:t>[源码] build_phase93_g56_antip10_plus_symmetric_clamp_submission.py / phase90_symmetric_clampfloor_perue.py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36CCEA-8A49-456D-A27D-6D020F356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96050"/>
            <a:ext cx="152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E74B5"/>
                </a:solidFill>
              </a:defRPr>
            </a:pPr>
            <a:r>
              <a:rPr sz="825" b="1">
                <a:solidFill>
                  <a:srgbClr val="2E74B5"/>
                </a:solidFill>
              </a:rPr>
              <a:t>ROUND2 / PHASE93</a:t>
            </a:r>
          </a:p>
        </p:txBody>
      </p:sp>
    </p:spTree>
    <p:extLst>
      <p:ext uri="{BB962C8B-B14F-4D97-AF65-F5344CB8AC3E}">
        <p14:creationId xmlns:p14="http://schemas.microsoft.com/office/powerpoint/2010/main" val="133228703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A4C8E3D-BB51-4EAB-AAE4-A8140A369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D96C32"/>
                </a:solidFill>
              </a:defRPr>
            </a:pPr>
            <a:r>
              <a:rPr sz="1050" b="1">
                <a:solidFill>
                  <a:srgbClr val="D96C32"/>
                </a:solidFill>
              </a:rPr>
              <a:t>11 / 工程复现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25B7D4-B314-4F93-B13B-9748F732C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B2545"/>
                </a:solidFill>
              </a:defRPr>
            </a:pPr>
            <a:r>
              <a:rPr sz="2850" b="1">
                <a:solidFill>
                  <a:srgbClr val="0B2545"/>
                </a:solidFill>
              </a:rPr>
              <a:t>当前一键命令是“冻结资产辅助重建”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C7EF8C-BC46-4AC9-96D1-F81B9D8F1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1047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B6878"/>
                </a:solidFill>
              </a:defRPr>
            </a:pPr>
            <a:r>
              <a:rPr sz="1500" b="0">
                <a:solidFill>
                  <a:srgbClr val="5B6878"/>
                </a:solidFill>
              </a:rPr>
              <a:t>要通过赛事方的纯原始数据审计，还需补齐前置资产生成链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C50917-55E0-4207-8B48-76F25CBDF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108204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0B2545"/>
          </a:solidFill>
          <a:ln xmlns:a="http://schemas.openxmlformats.org/drawingml/2006/main" w="9525">
            <a:solidFill>
              <a:srgbClr val="0B254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BCBD12-A41D-4642-8395-277D05A6F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81250"/>
            <a:ext cx="10191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当前：raw arrays + 9 derived Release assets → P9 → P10 → Phase40 → Phase93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7BF110-4C68-4B69-8C03-2A92BBCD5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0"/>
            <a:ext cx="108204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2CC"/>
          </a:solidFill>
          <a:ln xmlns:a="http://schemas.openxmlformats.org/drawingml/2006/main" w="9525">
            <a:solidFill>
              <a:srgbClr val="E6C45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0730D6-9D9D-400A-8406-545D20699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385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A94442"/>
                </a:solidFill>
              </a:defRPr>
            </a:pPr>
            <a:r>
              <a:rPr sz="1800" b="1">
                <a:solidFill>
                  <a:srgbClr val="A94442"/>
                </a:solidFill>
              </a:rPr>
              <a:t>必须补齐的生成器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227D4C-BD60-4989-B094-166E8BA1E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48125"/>
            <a:ext cx="19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D96C32"/>
                </a:solidFill>
              </a:defRPr>
            </a:pPr>
            <a:r>
              <a:rPr sz="1275" b="1">
                <a:solidFill>
                  <a:srgbClr val="D96C32"/>
                </a:solidFill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DFC6D6-6ED6-4FD8-8576-63A719F43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048125"/>
            <a:ext cx="9639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82433"/>
                </a:solidFill>
              </a:defRPr>
            </a:pPr>
            <a:r>
              <a:rPr sz="1275" b="0">
                <a:solidFill>
                  <a:srgbClr val="182433"/>
                </a:solidFill>
              </a:rPr>
              <a:t>LOS/rich-map 特征与其原始地图/点云来源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D8B4A2-AB2B-41D0-8A43-BDF256BA6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391025"/>
            <a:ext cx="19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D96C32"/>
                </a:solidFill>
              </a:defRPr>
            </a:pPr>
            <a:r>
              <a:rPr sz="1275" b="1">
                <a:solidFill>
                  <a:srgbClr val="D96C32"/>
                </a:solidFill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471F49-034A-4948-B85C-90D346018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391025"/>
            <a:ext cx="9639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82433"/>
                </a:solidFill>
              </a:defRPr>
            </a:pPr>
            <a:r>
              <a:rPr sz="1275" b="0">
                <a:solidFill>
                  <a:srgbClr val="182433"/>
                </a:solidFill>
              </a:rPr>
              <a:t>tree/RBF PAS 与 Phase6 test base 的确定性生成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513701-5C4A-4363-954D-BAFC6B52F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733925"/>
            <a:ext cx="19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D96C32"/>
                </a:solidFill>
              </a:defRPr>
            </a:pPr>
            <a:r>
              <a:rPr sz="1275" b="1">
                <a:solidFill>
                  <a:srgbClr val="D96C32"/>
                </a:solidFill>
              </a:rPr>
              <a:t>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513A82-423A-4BB1-B834-B5EF32E9C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733925"/>
            <a:ext cx="9639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82433"/>
                </a:solidFill>
              </a:defRPr>
            </a:pPr>
            <a:r>
              <a:rPr sz="1275" b="0">
                <a:solidFill>
                  <a:srgbClr val="182433"/>
                </a:solidFill>
              </a:rPr>
              <a:t>Phase10 group-composite PAS target 的冻结配置与调用顺序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AAFF38-54D9-4CD5-B6A9-24184552A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076825"/>
            <a:ext cx="19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D96C32"/>
                </a:solidFill>
              </a:defRPr>
            </a:pPr>
            <a:r>
              <a:rPr sz="1275" b="1">
                <a:solidFill>
                  <a:srgbClr val="D96C32"/>
                </a:solidFill>
              </a:rPr>
              <a:t>•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EE438A-91D2-4732-9381-1A2ACF838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076825"/>
            <a:ext cx="9639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82433"/>
                </a:solidFill>
              </a:defRPr>
            </a:pPr>
            <a:r>
              <a:rPr sz="1275" b="0">
                <a:solidFill>
                  <a:srgbClr val="182433"/>
                </a:solidFill>
              </a:rPr>
              <a:t>统一 raw-to-Phase93 入口，不再下载中间预测数组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9DBEB8B-DEBD-474D-B5FA-8DB8D1A19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9239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5B6878"/>
                </a:solidFill>
              </a:defRPr>
            </a:pPr>
            <a:r>
              <a:rPr sz="825" b="0">
                <a:solidFill>
                  <a:srgbClr val="5B6878"/>
                </a:solidFill>
              </a:rPr>
              <a:t>[源码] build_phase93_end_to_end.py / phase93_release_assets.json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ADB919A-DCCC-4B2C-A01A-340591ACA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96050"/>
            <a:ext cx="152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E74B5"/>
                </a:solidFill>
              </a:defRPr>
            </a:pPr>
            <a:r>
              <a:rPr sz="825" b="1">
                <a:solidFill>
                  <a:srgbClr val="2E74B5"/>
                </a:solidFill>
              </a:rPr>
              <a:t>ROUND2 / PHASE93</a:t>
            </a:r>
          </a:p>
        </p:txBody>
      </p:sp>
    </p:spTree>
    <p:extLst>
      <p:ext uri="{BB962C8B-B14F-4D97-AF65-F5344CB8AC3E}">
        <p14:creationId xmlns:p14="http://schemas.microsoft.com/office/powerpoint/2010/main" val="18076512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B254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0C86A4-D8E0-40C5-9EF1-98D448D92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D96C32"/>
                </a:solidFill>
              </a:defRPr>
            </a:pPr>
            <a:r>
              <a:rPr sz="1050" b="1">
                <a:solidFill>
                  <a:srgbClr val="D96C32"/>
                </a:solidFill>
              </a:rPr>
              <a:t>12 / 答辩结论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95E401-F410-4A54-ADD2-921A075D3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Phase93 的核心不是单点回归，而是空间与频谱约束协同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EE36A3-6DF7-4C06-9F6D-13CD4DBD3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1047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E8EEF5"/>
                </a:solidFill>
              </a:defRPr>
            </a:pPr>
            <a:r>
              <a:rPr sz="1500" b="0">
                <a:solidFill>
                  <a:srgbClr val="E8EEF5"/>
                </a:solidFill>
              </a:rPr>
              <a:t>原始数据提供监督，矩形几何定义外推，PAS/PDP 投影生成最终复信道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7557A8-AA61-46C0-9377-6A8E713BE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108204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9F82C9-25DB-47E3-BF0C-5CC854C45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381250"/>
            <a:ext cx="10325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B2545"/>
                </a:solidFill>
              </a:defRPr>
            </a:pPr>
            <a:r>
              <a:rPr sz="1575" b="1">
                <a:solidFill>
                  <a:srgbClr val="0B2545"/>
                </a:solidFill>
              </a:rPr>
              <a:t>Raw H → outlier removal → rectangular CV → island neighborhoods → Phase6 → P9/P10 → anti-P10 → g5/g6 full-192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E1563C-535D-4C1B-9DC0-2B36722CE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71875"/>
            <a:ext cx="10820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D96C32"/>
                </a:solidFill>
              </a:defRPr>
            </a:pPr>
            <a:r>
              <a:rPr sz="1875" b="1">
                <a:solidFill>
                  <a:srgbClr val="D96C32"/>
                </a:solidFill>
              </a:rPr>
              <a:t>最终验收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C7CDEA-C7AF-4CC3-B697-ED6AC8E40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shape=(500,256,4,192)  ·  complex64  ·  finite  ·  every row nonzero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4B2F3E-9D93-4BCA-8CAF-F6D9BCFAC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14875"/>
            <a:ext cx="10820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E8EEF5"/>
                </a:solidFill>
              </a:defRPr>
            </a:pPr>
            <a:r>
              <a:rPr sz="1425" b="0">
                <a:solidFill>
                  <a:srgbClr val="E8EEF5"/>
                </a:solidFill>
              </a:rPr>
              <a:t>正式 SHA256：047b821a5d…adb4201e8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D15D49-302D-4D5E-B419-EA3ECA4BD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0"/>
            <a:ext cx="10820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D96C32"/>
                </a:solidFill>
              </a:defRPr>
            </a:pPr>
            <a:r>
              <a:rPr sz="1275" b="1">
                <a:solidFill>
                  <a:srgbClr val="D96C32"/>
                </a:solidFill>
              </a:rPr>
              <a:t>结论边界：算法逻辑已完整说明；赛事方纯 raw-to-final 复现仍需补齐历史派生资产生成入口。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26A435-5302-47BB-B56B-FB5AAC2C5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9239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5B6878"/>
                </a:solidFill>
              </a:defRPr>
            </a:pPr>
            <a:r>
              <a:rPr sz="825" b="0">
                <a:solidFill>
                  <a:srgbClr val="5B6878"/>
                </a:solidFill>
              </a:rPr>
              <a:t>[源码] Phase93 source tree and frozen manifests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C9065F-F834-4040-8E78-0FD1EC60D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96050"/>
            <a:ext cx="152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E74B5"/>
                </a:solidFill>
              </a:defRPr>
            </a:pPr>
            <a:r>
              <a:rPr sz="825" b="1">
                <a:solidFill>
                  <a:srgbClr val="2E74B5"/>
                </a:solidFill>
              </a:rPr>
              <a:t>ROUND2 / PHASE93</a:t>
            </a:r>
          </a:p>
        </p:txBody>
      </p:sp>
    </p:spTree>
    <p:extLst>
      <p:ext uri="{BB962C8B-B14F-4D97-AF65-F5344CB8AC3E}">
        <p14:creationId xmlns:p14="http://schemas.microsoft.com/office/powerpoint/2010/main" val="32051703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2026-08-25T14:25:54.1990000Z</dcterms:created>
  <dcterms:modified xsi:type="dcterms:W3CDTF">2026-08-25T14:25:54.1990000Z</dcterms:modified>
</coreProperties>
</file>